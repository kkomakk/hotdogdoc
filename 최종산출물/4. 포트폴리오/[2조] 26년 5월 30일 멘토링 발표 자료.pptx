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B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AF9650-7FD2-73EA-8640-445ADB3A0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9DB0C5F-1A1D-9372-E174-E2860E506D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20F8C7-9A5B-E06D-0D90-D88C14629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4B43D0-93D0-3D74-20DD-1A74435EA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0831C3-F21C-D51E-81A5-B90593116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672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7E0C26-E70C-033B-D319-41744627B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0D1F31-820E-4FAA-6AF6-1DD493FF4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AA2F94-FEC5-A46D-055B-FA2A1A6F9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BA469E-57FC-29E9-518F-B4ABE12CC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F835E6-A627-097C-9375-4C580786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284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420E13-3126-EA03-E4DF-6F4C758F6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D4DB92-F09D-4A26-4ED9-17D5482C3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3C5396-AA76-0090-CC2A-0E241DD11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48A551-83CB-6419-4801-A9D2B1328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6292AA-FDDF-B7A9-6AC8-DB75F744A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920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5C2DD-864E-9ED0-12C9-9DC8BE65E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7A3CB4-6E1E-0DEC-10BE-41539F85C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ADEF9B-A38B-E718-8D62-0276304703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4455E9-8EF6-E148-B670-67C540870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2B6623-2164-A682-C8F8-70DBEB277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AD2992-D9B5-E461-F839-598FF3CFB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283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80E5C6-6350-611C-CC89-62A4803B8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8B6452-817E-5E91-D000-2AD3D1DF3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EC34DB-62AC-84B2-D930-A42D0F498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A2A8A8A-456A-9A25-109A-20FD6D1FD5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C3C4672-74A6-E5EB-0E71-2D65DA8DB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7694C31-5E77-04B3-B02D-678F5A43E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4981255-A650-9235-5CA9-D6ABD8F58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DA9C58A-C64B-E4CB-D271-D7786806A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699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A780C8-FB3F-C4CD-179F-56886A44F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5C2AF7-A88B-FBAD-AEE1-CF593AF38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9ED6EA-FDDD-396C-C42E-E49D1B8F8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1B3080-7377-A4A8-CD22-26F64FBEF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321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5833414-6313-E569-B613-038348AFC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1319E5-8E8A-5A5F-FFAB-46FE38F90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02D4A3-8AA3-B4E3-5637-DAC30F81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9135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E271C2-7B52-989E-1255-4ED457001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7082BD-6CE2-3558-BADA-B794175EC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2930C0-6D86-CB8E-59DD-D560C7770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D5EB45-A74F-C9B8-3C18-FBAD3AC90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F876AC-21DB-9C88-1D64-1B6882F4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BE0965-489F-031C-8B6B-D3123DE09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182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9F3742-8EDD-7BD8-0D82-4B802A25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F582407-1AB0-5CEA-D9BD-E7DB8761D9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77603A-2F69-4BD8-26F4-F994A802C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4EF01D-DDCE-1AE1-685D-3D1F0ADD5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78608C-6C3A-5407-2727-1A2DBAB94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0725C7-BF56-E403-7A53-7B95FDA2E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388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E595F-3629-CB34-A763-86BCAB195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D3EB32-6314-EE72-51D5-951FF3BE8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271F9A-5A8F-5600-07D9-DB6FB2C7B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06AD82-5A9B-ABFF-9B16-8B5C21FC3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C377F7-3F5A-9656-62A3-AB9ECCC07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789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A933A56-ABDD-263D-0A4F-B5D39440E2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1D309A-A103-18A5-744E-5C0D44FE5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FAC072-A803-3854-7BB2-669DACCA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89F0E3-02A7-9664-1A49-DDADDEF25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68C27C-0BCB-F8EF-2506-46EDAA3A4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80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0A9CE6B-64D7-2F36-7BCD-D1C042BF6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3C59CA-E5AE-8141-F9B3-2DBBDEBDC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37CB7E-BE33-6925-5383-0CDE95C68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53E8C2-4DC7-48E6-81FA-9DDD8E763E42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665A8B-E890-2EC4-4E94-DE7A76E998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E5B973-CEDA-2DAB-DD5F-ABD5F525BA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5791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C38DE5-EC77-3760-FDD6-F5E9C2822A35}"/>
              </a:ext>
            </a:extLst>
          </p:cNvPr>
          <p:cNvSpPr txBox="1"/>
          <p:nvPr/>
        </p:nvSpPr>
        <p:spPr>
          <a:xfrm>
            <a:off x="2844800" y="2310456"/>
            <a:ext cx="89546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ko-KR" sz="4800" b="1" dirty="0">
                <a:solidFill>
                  <a:srgbClr val="FF4B1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행동로그 추천 시스템</a:t>
            </a:r>
            <a:r>
              <a:rPr lang="en-US" altLang="ko-KR" sz="4800" b="1" dirty="0">
                <a:solidFill>
                  <a:srgbClr val="FF4B1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4800" b="1" dirty="0">
                <a:solidFill>
                  <a:srgbClr val="FF4B1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기반</a:t>
            </a:r>
            <a:endParaRPr lang="en-US" altLang="ko-KR" sz="4800" b="1" dirty="0">
              <a:solidFill>
                <a:srgbClr val="FF4B1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ko-KR" sz="4800" b="1" dirty="0">
                <a:solidFill>
                  <a:srgbClr val="FF4B1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복지 쇼핑몰</a:t>
            </a:r>
            <a:endParaRPr lang="ko-KR" altLang="en-US" sz="4800" b="1" dirty="0">
              <a:solidFill>
                <a:srgbClr val="FF4B1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BA1988-EEF1-8817-D7C6-793F3ADF6A02}"/>
              </a:ext>
            </a:extLst>
          </p:cNvPr>
          <p:cNvSpPr txBox="1"/>
          <p:nvPr/>
        </p:nvSpPr>
        <p:spPr>
          <a:xfrm>
            <a:off x="4327236" y="1787236"/>
            <a:ext cx="7472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D-TO</a:t>
            </a:r>
            <a:endParaRPr lang="ko-KR" altLang="en-US" sz="2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8FA6405-475B-0F9E-AB12-332129B62440}"/>
              </a:ext>
            </a:extLst>
          </p:cNvPr>
          <p:cNvSpPr/>
          <p:nvPr/>
        </p:nvSpPr>
        <p:spPr>
          <a:xfrm>
            <a:off x="0" y="0"/>
            <a:ext cx="2281381" cy="6858000"/>
          </a:xfrm>
          <a:prstGeom prst="rect">
            <a:avLst/>
          </a:prstGeom>
          <a:solidFill>
            <a:srgbClr val="FF4B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41255E-02CC-139F-DA9C-569BC6709917}"/>
              </a:ext>
            </a:extLst>
          </p:cNvPr>
          <p:cNvSpPr txBox="1"/>
          <p:nvPr/>
        </p:nvSpPr>
        <p:spPr>
          <a:xfrm>
            <a:off x="6345382" y="4064000"/>
            <a:ext cx="52924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2</a:t>
            </a:r>
            <a:r>
              <a:rPr lang="ko-KR" altLang="en-US" dirty="0"/>
              <a:t>조</a:t>
            </a:r>
            <a:endParaRPr lang="en-US" altLang="ko-KR" dirty="0"/>
          </a:p>
          <a:p>
            <a:pPr algn="r"/>
            <a:r>
              <a:rPr lang="ko-KR" altLang="en-US" dirty="0"/>
              <a:t>이지수</a:t>
            </a:r>
            <a:endParaRPr lang="en-US" altLang="ko-KR" dirty="0"/>
          </a:p>
          <a:p>
            <a:pPr algn="r"/>
            <a:r>
              <a:rPr lang="ko-KR" altLang="en-US" dirty="0" err="1"/>
              <a:t>전이레</a:t>
            </a:r>
            <a:endParaRPr lang="en-US" altLang="ko-KR" dirty="0"/>
          </a:p>
          <a:p>
            <a:pPr algn="r"/>
            <a:r>
              <a:rPr lang="ko-KR" altLang="en-US" dirty="0" err="1"/>
              <a:t>정인혁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75535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C7726-A86F-8418-A671-A01398695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500462C-BF10-89E1-E1AE-B28CB5D54486}"/>
              </a:ext>
            </a:extLst>
          </p:cNvPr>
          <p:cNvSpPr/>
          <p:nvPr/>
        </p:nvSpPr>
        <p:spPr>
          <a:xfrm>
            <a:off x="0" y="0"/>
            <a:ext cx="2281381" cy="6858000"/>
          </a:xfrm>
          <a:prstGeom prst="rect">
            <a:avLst/>
          </a:prstGeom>
          <a:solidFill>
            <a:srgbClr val="FF4B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148E74-906A-7B87-249D-16ED38D6971B}"/>
              </a:ext>
            </a:extLst>
          </p:cNvPr>
          <p:cNvSpPr txBox="1"/>
          <p:nvPr/>
        </p:nvSpPr>
        <p:spPr>
          <a:xfrm>
            <a:off x="2937164" y="831273"/>
            <a:ext cx="832196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목차</a:t>
            </a:r>
            <a:endParaRPr lang="en-US" altLang="ko-KR" sz="4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*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각 제목은 후에 수정됩니다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1.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기획 설명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설계 설명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3.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사용자 인증 구축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1C58DE-413D-6242-4AF2-7612B6A609EA}"/>
              </a:ext>
            </a:extLst>
          </p:cNvPr>
          <p:cNvSpPr txBox="1"/>
          <p:nvPr/>
        </p:nvSpPr>
        <p:spPr>
          <a:xfrm>
            <a:off x="2937164" y="5657395"/>
            <a:ext cx="70288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2">
                    <a:lumMod val="50000"/>
                  </a:schemeClr>
                </a:solidFill>
              </a:rPr>
              <a:t>*</a:t>
            </a: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</a:rPr>
              <a:t>기획 설명은 간단히 복습하는 형태</a:t>
            </a:r>
            <a:endParaRPr lang="en-US" altLang="ko-KR" sz="1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</a:rPr>
              <a:t>저번에 부족했던 설계를 보충하고</a:t>
            </a:r>
            <a:endParaRPr lang="en-US" altLang="ko-KR" sz="1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</a:rPr>
              <a:t>지금까지 구현했던 회원 인증 구현을 보여드리면 </a:t>
            </a:r>
            <a:r>
              <a:rPr lang="ko-KR" altLang="en-US" sz="1400" dirty="0" err="1">
                <a:solidFill>
                  <a:schemeClr val="bg2">
                    <a:lumMod val="50000"/>
                  </a:schemeClr>
                </a:solidFill>
              </a:rPr>
              <a:t>될거같습니다</a:t>
            </a:r>
            <a:endParaRPr lang="ko-KR" alt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688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04644-349D-70BD-4248-231F94246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E5052A1-5AEF-4376-7185-7577305CA856}"/>
              </a:ext>
            </a:extLst>
          </p:cNvPr>
          <p:cNvSpPr/>
          <p:nvPr/>
        </p:nvSpPr>
        <p:spPr>
          <a:xfrm>
            <a:off x="0" y="0"/>
            <a:ext cx="2281381" cy="6858000"/>
          </a:xfrm>
          <a:prstGeom prst="rect">
            <a:avLst/>
          </a:prstGeom>
          <a:solidFill>
            <a:srgbClr val="FF4B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EB11240-9D9F-955C-87F3-D3D76DDCC844}"/>
              </a:ext>
            </a:extLst>
          </p:cNvPr>
          <p:cNvCxnSpPr>
            <a:cxnSpLocks/>
          </p:cNvCxnSpPr>
          <p:nvPr/>
        </p:nvCxnSpPr>
        <p:spPr>
          <a:xfrm flipV="1">
            <a:off x="2854036" y="1237672"/>
            <a:ext cx="8488218" cy="83128"/>
          </a:xfrm>
          <a:prstGeom prst="line">
            <a:avLst/>
          </a:prstGeom>
          <a:ln>
            <a:solidFill>
              <a:srgbClr val="FF4B11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1942E06-6555-DA01-1C27-181B4ABE2053}"/>
              </a:ext>
            </a:extLst>
          </p:cNvPr>
          <p:cNvSpPr txBox="1"/>
          <p:nvPr/>
        </p:nvSpPr>
        <p:spPr>
          <a:xfrm>
            <a:off x="2854036" y="529786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기획 설명</a:t>
            </a:r>
            <a:endParaRPr lang="en-US" altLang="ko-KR" sz="4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99222A-E43B-AABA-AD1A-952B1952B713}"/>
              </a:ext>
            </a:extLst>
          </p:cNvPr>
          <p:cNvSpPr txBox="1"/>
          <p:nvPr/>
        </p:nvSpPr>
        <p:spPr>
          <a:xfrm>
            <a:off x="2854036" y="140860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*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각 제목은 후에 수정됩니다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63D1CB-C49E-2947-8F7D-4432365E421F}"/>
              </a:ext>
            </a:extLst>
          </p:cNvPr>
          <p:cNvSpPr txBox="1"/>
          <p:nvPr/>
        </p:nvSpPr>
        <p:spPr>
          <a:xfrm>
            <a:off x="2854036" y="1865745"/>
            <a:ext cx="848821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 부분은 다음과 같은 순서로 진행됩니다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기획 의도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대주제 </a:t>
            </a:r>
            <a:r>
              <a:rPr lang="en-US" altLang="ko-KR" dirty="0"/>
              <a:t>[</a:t>
            </a:r>
            <a:r>
              <a:rPr lang="ko-KR" altLang="ko-KR" dirty="0"/>
              <a:t>접근성 중심의 상품중</a:t>
            </a:r>
            <a:r>
              <a:rPr lang="ko-KR" altLang="en-US" dirty="0"/>
              <a:t>개</a:t>
            </a:r>
            <a:r>
              <a:rPr lang="ko-KR" altLang="ko-KR" dirty="0"/>
              <a:t> 쇼핑몰 구현</a:t>
            </a:r>
            <a:r>
              <a:rPr lang="en-US" altLang="ko-KR" dirty="0"/>
              <a:t>]</a:t>
            </a:r>
          </a:p>
          <a:p>
            <a:pPr marL="742950" lvl="1" indent="-285750">
              <a:buFontTx/>
              <a:buChar char="-"/>
            </a:pPr>
            <a:r>
              <a:rPr lang="ko-KR" altLang="en-US" dirty="0" err="1"/>
              <a:t>현대이지웰의</a:t>
            </a:r>
            <a:r>
              <a:rPr lang="ko-KR" altLang="en-US" dirty="0"/>
              <a:t> 복지몰에서 착안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서비스 대상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활동량</a:t>
            </a:r>
            <a:r>
              <a:rPr lang="en-US" altLang="ko-KR" dirty="0"/>
              <a:t>/</a:t>
            </a:r>
            <a:r>
              <a:rPr lang="ko-KR" altLang="en-US" dirty="0"/>
              <a:t>업무량이 가장 많은 시기 </a:t>
            </a:r>
            <a:r>
              <a:rPr lang="en-US" altLang="ko-KR" dirty="0"/>
              <a:t>30·40</a:t>
            </a:r>
            <a:r>
              <a:rPr lang="ko-KR" altLang="en-US" dirty="0"/>
              <a:t>대를 타깃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그들이 관심있어 하는 카테고리 위주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핵심 기능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‘</a:t>
            </a:r>
            <a:r>
              <a:rPr lang="ko-KR" altLang="en-US" dirty="0"/>
              <a:t>메타태그</a:t>
            </a:r>
            <a:r>
              <a:rPr lang="en-US" altLang="ko-KR" dirty="0"/>
              <a:t>’ </a:t>
            </a:r>
            <a:r>
              <a:rPr lang="ko-KR" altLang="en-US" dirty="0"/>
              <a:t>데이터 기반 추천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‘</a:t>
            </a:r>
            <a:r>
              <a:rPr lang="ko-KR" altLang="en-US" dirty="0"/>
              <a:t>메타태그</a:t>
            </a:r>
            <a:r>
              <a:rPr lang="en-US" altLang="ko-KR" dirty="0"/>
              <a:t>’ </a:t>
            </a:r>
            <a:r>
              <a:rPr lang="ko-KR" altLang="en-US" dirty="0"/>
              <a:t>데이터는 유저의 행동로그에 의해서 기록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기록되는 것은 </a:t>
            </a:r>
            <a:r>
              <a:rPr lang="en-US" altLang="ko-KR" dirty="0"/>
              <a:t>4</a:t>
            </a:r>
            <a:r>
              <a:rPr lang="ko-KR" altLang="en-US" dirty="0"/>
              <a:t>가지 행동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55245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CE483-8705-8D12-7884-18BB7F52F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072116C3-1C7D-290E-E9AC-85A49D2A8369}"/>
              </a:ext>
            </a:extLst>
          </p:cNvPr>
          <p:cNvSpPr/>
          <p:nvPr/>
        </p:nvSpPr>
        <p:spPr>
          <a:xfrm>
            <a:off x="0" y="0"/>
            <a:ext cx="2281381" cy="6858000"/>
          </a:xfrm>
          <a:prstGeom prst="rect">
            <a:avLst/>
          </a:prstGeom>
          <a:solidFill>
            <a:srgbClr val="FF4B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205E253-6561-81A9-6AE1-EBD95871E026}"/>
              </a:ext>
            </a:extLst>
          </p:cNvPr>
          <p:cNvCxnSpPr>
            <a:cxnSpLocks/>
          </p:cNvCxnSpPr>
          <p:nvPr/>
        </p:nvCxnSpPr>
        <p:spPr>
          <a:xfrm flipV="1">
            <a:off x="2854036" y="1237672"/>
            <a:ext cx="8488218" cy="83128"/>
          </a:xfrm>
          <a:prstGeom prst="line">
            <a:avLst/>
          </a:prstGeom>
          <a:ln>
            <a:solidFill>
              <a:srgbClr val="FF4B11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38C63BF-4B85-7AD0-C711-5B3105F8098D}"/>
              </a:ext>
            </a:extLst>
          </p:cNvPr>
          <p:cNvSpPr txBox="1"/>
          <p:nvPr/>
        </p:nvSpPr>
        <p:spPr>
          <a:xfrm>
            <a:off x="2854036" y="529786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설계 설명</a:t>
            </a:r>
            <a:endParaRPr lang="en-US" altLang="ko-KR" sz="4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17772F-D66C-DA90-A1A9-73958F699FDD}"/>
              </a:ext>
            </a:extLst>
          </p:cNvPr>
          <p:cNvSpPr txBox="1"/>
          <p:nvPr/>
        </p:nvSpPr>
        <p:spPr>
          <a:xfrm>
            <a:off x="2854036" y="140860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*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각 제목은 후에 수정됩니다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C1C598-3B3B-B425-5AC0-082D1FE44966}"/>
              </a:ext>
            </a:extLst>
          </p:cNvPr>
          <p:cNvSpPr txBox="1"/>
          <p:nvPr/>
        </p:nvSpPr>
        <p:spPr>
          <a:xfrm>
            <a:off x="2854036" y="1773413"/>
            <a:ext cx="848821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 부분은 다음과 같은 순서로 진행됩니다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초기 유저 추천 로직</a:t>
            </a:r>
            <a:r>
              <a:rPr lang="en-US" altLang="ko-KR" dirty="0"/>
              <a:t>(</a:t>
            </a:r>
            <a:r>
              <a:rPr lang="ko-KR" altLang="en-US" dirty="0"/>
              <a:t>실 회원가입 스크린샷과 </a:t>
            </a:r>
            <a:r>
              <a:rPr lang="ko-KR" altLang="en-US" dirty="0" err="1"/>
              <a:t>함께라면</a:t>
            </a:r>
            <a:r>
              <a:rPr lang="ko-KR" altLang="en-US" dirty="0"/>
              <a:t> </a:t>
            </a:r>
            <a:r>
              <a:rPr lang="ko-KR" altLang="en-US" dirty="0" err="1"/>
              <a:t>좋을거같음</a:t>
            </a:r>
            <a:r>
              <a:rPr lang="en-US" altLang="ko-KR" dirty="0"/>
              <a:t>)</a:t>
            </a:r>
          </a:p>
          <a:p>
            <a:pPr marL="742950" lvl="1" indent="-285750">
              <a:buFontTx/>
              <a:buChar char="-"/>
            </a:pPr>
            <a:r>
              <a:rPr lang="ko-KR" altLang="en-US" sz="1600" dirty="0"/>
              <a:t>프로필 입력을 통한 메타태그 할당</a:t>
            </a:r>
            <a:endParaRPr lang="en-US" altLang="ko-KR" sz="1600" dirty="0"/>
          </a:p>
          <a:p>
            <a:pPr marL="742950" lvl="1" indent="-285750">
              <a:buFontTx/>
              <a:buChar char="-"/>
            </a:pPr>
            <a:r>
              <a:rPr lang="ko-KR" altLang="en-US" sz="1600" dirty="0"/>
              <a:t>그 중 직종 처리에 관한 부분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행동 로그의 </a:t>
            </a:r>
            <a:r>
              <a:rPr lang="en-US" altLang="ko-KR" dirty="0"/>
              <a:t>5</a:t>
            </a:r>
            <a:r>
              <a:rPr lang="ko-KR" altLang="en-US" dirty="0"/>
              <a:t>가지 행동에 따른 지침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sz="1600" dirty="0"/>
              <a:t>참고로서 </a:t>
            </a:r>
            <a:r>
              <a:rPr lang="en-US" altLang="ko-KR" sz="1600" dirty="0"/>
              <a:t>kumo.ai</a:t>
            </a:r>
            <a:r>
              <a:rPr lang="ko-KR" altLang="en-US" sz="1600" dirty="0"/>
              <a:t>와 아마존 문서를 확인</a:t>
            </a:r>
            <a:endParaRPr lang="en-US" altLang="ko-KR" sz="1600" dirty="0"/>
          </a:p>
          <a:p>
            <a:pPr marL="742950" lvl="1" indent="-285750">
              <a:buFontTx/>
              <a:buChar char="-"/>
            </a:pPr>
            <a:r>
              <a:rPr lang="ko-KR" altLang="en-US" sz="1600" dirty="0"/>
              <a:t>상품 조회</a:t>
            </a:r>
            <a:r>
              <a:rPr lang="en-US" altLang="ko-KR" sz="1600" dirty="0"/>
              <a:t>(VIEW)</a:t>
            </a:r>
          </a:p>
          <a:p>
            <a:pPr marL="742950" lvl="1" indent="-285750">
              <a:buFontTx/>
              <a:buChar char="-"/>
            </a:pPr>
            <a:r>
              <a:rPr lang="ko-KR" altLang="en-US" sz="1600" dirty="0"/>
              <a:t>상품 찜</a:t>
            </a:r>
            <a:r>
              <a:rPr lang="en-US" altLang="ko-KR" sz="1600" dirty="0"/>
              <a:t>(BOOKMARK)</a:t>
            </a:r>
          </a:p>
          <a:p>
            <a:pPr marL="742950" lvl="1" indent="-285750">
              <a:buFontTx/>
              <a:buChar char="-"/>
            </a:pPr>
            <a:r>
              <a:rPr lang="ko-KR" altLang="en-US" sz="1600" dirty="0"/>
              <a:t>장바구니</a:t>
            </a:r>
            <a:r>
              <a:rPr lang="en-US" altLang="ko-KR" sz="1600" dirty="0"/>
              <a:t>(CART)</a:t>
            </a:r>
          </a:p>
          <a:p>
            <a:pPr marL="742950" lvl="1" indent="-285750">
              <a:buFontTx/>
              <a:buChar char="-"/>
            </a:pPr>
            <a:r>
              <a:rPr lang="ko-KR" altLang="en-US" sz="1600" dirty="0"/>
              <a:t>구매</a:t>
            </a:r>
            <a:r>
              <a:rPr lang="en-US" altLang="ko-KR" sz="1600" dirty="0"/>
              <a:t>(PURCHASE)</a:t>
            </a:r>
          </a:p>
          <a:p>
            <a:pPr marL="742950" lvl="1" indent="-285750">
              <a:buFontTx/>
              <a:buChar char="-"/>
            </a:pPr>
            <a:r>
              <a:rPr lang="ko-KR" altLang="en-US" sz="1600" dirty="0"/>
              <a:t>구매 취소</a:t>
            </a:r>
            <a:r>
              <a:rPr lang="en-US" altLang="ko-KR" sz="1600" dirty="0"/>
              <a:t>/</a:t>
            </a:r>
            <a:r>
              <a:rPr lang="ko-KR" altLang="en-US" sz="1600" dirty="0"/>
              <a:t>환불</a:t>
            </a:r>
            <a:r>
              <a:rPr lang="en-US" altLang="ko-KR" sz="1600" dirty="0"/>
              <a:t>(CANCEL) – </a:t>
            </a:r>
            <a:r>
              <a:rPr lang="ko-KR" altLang="en-US" sz="1600" dirty="0"/>
              <a:t>로그 기록을 통한 분석 처리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각 메타태그 타입에 따른 계수 지침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sz="1600" dirty="0"/>
              <a:t>기준은 자주 바뀌는가</a:t>
            </a:r>
            <a:r>
              <a:rPr lang="en-US" altLang="ko-KR" sz="1600" dirty="0"/>
              <a:t>(</a:t>
            </a:r>
            <a:r>
              <a:rPr lang="ko-KR" altLang="en-US" sz="1600" dirty="0"/>
              <a:t>유동성</a:t>
            </a:r>
            <a:r>
              <a:rPr lang="en-US" altLang="ko-KR" sz="1600" dirty="0"/>
              <a:t>)/</a:t>
            </a:r>
            <a:r>
              <a:rPr lang="ko-KR" altLang="en-US" sz="1600" dirty="0"/>
              <a:t>유저의 경향을 반영하기 쉬운가</a:t>
            </a:r>
            <a:r>
              <a:rPr lang="en-US" altLang="ko-KR" sz="1600" dirty="0"/>
              <a:t>(</a:t>
            </a:r>
            <a:r>
              <a:rPr lang="ko-KR" altLang="en-US" sz="1600" dirty="0"/>
              <a:t>선호도</a:t>
            </a:r>
            <a:r>
              <a:rPr lang="en-US" altLang="ko-KR" sz="1600" dirty="0"/>
              <a:t>)</a:t>
            </a:r>
          </a:p>
          <a:p>
            <a:pPr marL="742950" lvl="1" indent="-285750">
              <a:buFontTx/>
              <a:buChar char="-"/>
            </a:pPr>
            <a:r>
              <a:rPr lang="ko-KR" altLang="en-US" sz="1600" dirty="0"/>
              <a:t>이 계수는 등록이 아니라 </a:t>
            </a:r>
            <a:endParaRPr lang="en-US" altLang="ko-KR" sz="1600" dirty="0"/>
          </a:p>
          <a:p>
            <a:pPr marL="742950" lvl="1" indent="-285750">
              <a:buFontTx/>
              <a:buChar char="-"/>
            </a:pPr>
            <a:r>
              <a:rPr lang="ko-KR" altLang="en-US" sz="1600" dirty="0"/>
              <a:t>카테고리</a:t>
            </a:r>
            <a:r>
              <a:rPr lang="en-US" altLang="ko-KR" sz="1600" dirty="0"/>
              <a:t>(CATEGORY)</a:t>
            </a:r>
          </a:p>
          <a:p>
            <a:pPr marL="742950" lvl="1" indent="-285750">
              <a:buFontTx/>
              <a:buChar char="-"/>
            </a:pPr>
            <a:r>
              <a:rPr lang="ko-KR" altLang="en-US" sz="1600" dirty="0"/>
              <a:t>목적</a:t>
            </a:r>
            <a:r>
              <a:rPr lang="en-US" altLang="ko-KR" sz="1600" dirty="0"/>
              <a:t>(PURPOSE)</a:t>
            </a:r>
          </a:p>
          <a:p>
            <a:pPr marL="742950" lvl="1" indent="-285750">
              <a:buFontTx/>
              <a:buChar char="-"/>
            </a:pPr>
            <a:r>
              <a:rPr lang="ko-KR" altLang="en-US" sz="1600" dirty="0"/>
              <a:t>기획의도</a:t>
            </a:r>
            <a:r>
              <a:rPr lang="en-US" altLang="ko-KR" sz="1600" dirty="0"/>
              <a:t>(MERCHANDISING)</a:t>
            </a:r>
          </a:p>
          <a:p>
            <a:pPr marL="742950" lvl="1" indent="-285750">
              <a:buFontTx/>
              <a:buChar char="-"/>
            </a:pPr>
            <a:r>
              <a:rPr lang="ko-KR" altLang="en-US" sz="1600" dirty="0"/>
              <a:t>직종</a:t>
            </a:r>
            <a:r>
              <a:rPr lang="en-US" altLang="ko-KR" sz="1600" dirty="0"/>
              <a:t>(OCCUPATION) </a:t>
            </a:r>
          </a:p>
          <a:p>
            <a:pPr marL="742950" lvl="1" indent="-285750">
              <a:buFontTx/>
              <a:buChar char="-"/>
            </a:pPr>
            <a:r>
              <a:rPr lang="ko-KR" altLang="en-US" sz="1600" dirty="0"/>
              <a:t>나이</a:t>
            </a:r>
            <a:r>
              <a:rPr lang="en-US" altLang="ko-KR" sz="1600" dirty="0"/>
              <a:t>(AGE_PREFERENCE)</a:t>
            </a:r>
          </a:p>
          <a:p>
            <a:pPr marL="742950" lvl="1" indent="-285750">
              <a:buFontTx/>
              <a:buChar char="-"/>
            </a:pPr>
            <a:r>
              <a:rPr lang="ko-KR" altLang="en-US" sz="1600" dirty="0"/>
              <a:t>인기도</a:t>
            </a:r>
            <a:r>
              <a:rPr lang="en-US" altLang="ko-KR" sz="1600" dirty="0"/>
              <a:t>(POPULARITY)</a:t>
            </a:r>
          </a:p>
          <a:p>
            <a:pPr marL="742950" lvl="1" indent="-285750">
              <a:buFontTx/>
              <a:buChar char="-"/>
            </a:pPr>
            <a:r>
              <a:rPr lang="ko-KR" altLang="en-US" sz="1600" dirty="0"/>
              <a:t>등록 시기</a:t>
            </a:r>
            <a:r>
              <a:rPr lang="en-US" altLang="ko-KR" sz="1600" dirty="0"/>
              <a:t>(RELEASE_OR_UPDATE)</a:t>
            </a:r>
          </a:p>
        </p:txBody>
      </p:sp>
    </p:spTree>
    <p:extLst>
      <p:ext uri="{BB962C8B-B14F-4D97-AF65-F5344CB8AC3E}">
        <p14:creationId xmlns:p14="http://schemas.microsoft.com/office/powerpoint/2010/main" val="769866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BEFCC-6A57-671F-DF0D-C8C0CF157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CB05367-2E91-73F1-4EF4-E85389C93ED4}"/>
              </a:ext>
            </a:extLst>
          </p:cNvPr>
          <p:cNvSpPr/>
          <p:nvPr/>
        </p:nvSpPr>
        <p:spPr>
          <a:xfrm>
            <a:off x="0" y="0"/>
            <a:ext cx="2281381" cy="6858000"/>
          </a:xfrm>
          <a:prstGeom prst="rect">
            <a:avLst/>
          </a:prstGeom>
          <a:solidFill>
            <a:srgbClr val="FF4B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314DADD-D326-6C77-DE51-50A16BBB4056}"/>
              </a:ext>
            </a:extLst>
          </p:cNvPr>
          <p:cNvCxnSpPr>
            <a:cxnSpLocks/>
          </p:cNvCxnSpPr>
          <p:nvPr/>
        </p:nvCxnSpPr>
        <p:spPr>
          <a:xfrm flipV="1">
            <a:off x="2854036" y="1237672"/>
            <a:ext cx="8488218" cy="83128"/>
          </a:xfrm>
          <a:prstGeom prst="line">
            <a:avLst/>
          </a:prstGeom>
          <a:ln>
            <a:solidFill>
              <a:srgbClr val="FF4B11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9A117E4-B57E-E023-6B2F-7E19DC4C9D20}"/>
              </a:ext>
            </a:extLst>
          </p:cNvPr>
          <p:cNvSpPr txBox="1"/>
          <p:nvPr/>
        </p:nvSpPr>
        <p:spPr>
          <a:xfrm>
            <a:off x="2854036" y="529786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설계 설명</a:t>
            </a:r>
            <a:endParaRPr lang="en-US" altLang="ko-KR" sz="4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6C4043-D334-7818-AA71-BAC2576AB7E1}"/>
              </a:ext>
            </a:extLst>
          </p:cNvPr>
          <p:cNvSpPr txBox="1"/>
          <p:nvPr/>
        </p:nvSpPr>
        <p:spPr>
          <a:xfrm>
            <a:off x="2854036" y="140860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*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각 제목은 후에 수정됩니다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EBFAB5-A2C4-86CF-1529-E5061B4BCF91}"/>
              </a:ext>
            </a:extLst>
          </p:cNvPr>
          <p:cNvSpPr txBox="1"/>
          <p:nvPr/>
        </p:nvSpPr>
        <p:spPr>
          <a:xfrm>
            <a:off x="2854036" y="1773413"/>
            <a:ext cx="848821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이어서 다음과 같은 순서로 진행됩니다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sz="2000" dirty="0"/>
              <a:t>Batch </a:t>
            </a:r>
            <a:r>
              <a:rPr lang="ko-KR" altLang="en-US" sz="2000" dirty="0"/>
              <a:t>처리</a:t>
            </a:r>
            <a:endParaRPr lang="en-US" altLang="ko-KR" sz="2000" dirty="0"/>
          </a:p>
          <a:p>
            <a:pPr marL="742950" lvl="1" indent="-285750">
              <a:buFontTx/>
              <a:buChar char="-"/>
            </a:pPr>
            <a:r>
              <a:rPr lang="en-US" altLang="ko-KR" sz="2000" dirty="0"/>
              <a:t>(Redis</a:t>
            </a:r>
            <a:r>
              <a:rPr lang="ko-KR" altLang="en-US" sz="2000" dirty="0"/>
              <a:t>의 경우 앞서 있는 행동 지침에 넣는 쪽이 </a:t>
            </a:r>
            <a:r>
              <a:rPr lang="ko-KR" altLang="en-US" sz="2000" dirty="0" err="1"/>
              <a:t>좋아보임</a:t>
            </a:r>
            <a:r>
              <a:rPr lang="en-US" altLang="ko-KR" sz="2000" dirty="0"/>
              <a:t>)</a:t>
            </a:r>
          </a:p>
          <a:p>
            <a:pPr marL="742950" lvl="1" indent="-285750">
              <a:buFontTx/>
              <a:buChar char="-"/>
            </a:pPr>
            <a:r>
              <a:rPr lang="en-US" altLang="ko-KR" sz="2000" dirty="0"/>
              <a:t>Batch</a:t>
            </a:r>
            <a:r>
              <a:rPr lang="ko-KR" altLang="en-US" sz="2000" dirty="0"/>
              <a:t>로서 일괄적으로 등록하여 얻는 이점 등의 설명</a:t>
            </a:r>
            <a:endParaRPr lang="en-US" altLang="ko-KR" sz="2000" dirty="0"/>
          </a:p>
          <a:p>
            <a:pPr marL="285750" indent="-285750">
              <a:buFontTx/>
              <a:buChar char="-"/>
            </a:pPr>
            <a:r>
              <a:rPr lang="ko-KR" altLang="en-US" sz="2000" dirty="0"/>
              <a:t>시간 감쇠 로직</a:t>
            </a:r>
            <a:endParaRPr lang="en-US" altLang="ko-KR" sz="2000" dirty="0"/>
          </a:p>
          <a:p>
            <a:pPr marL="742950" lvl="1" indent="-285750">
              <a:buFontTx/>
              <a:buChar char="-"/>
            </a:pPr>
            <a:r>
              <a:rPr lang="en-US" altLang="ko-KR" sz="2000" dirty="0"/>
              <a:t>1</a:t>
            </a:r>
            <a:r>
              <a:rPr lang="ko-KR" altLang="en-US" sz="2000" dirty="0"/>
              <a:t>개월 이내</a:t>
            </a:r>
            <a:r>
              <a:rPr lang="en-US" altLang="ko-KR" sz="2000" dirty="0"/>
              <a:t>: </a:t>
            </a:r>
            <a:r>
              <a:rPr lang="ko-KR" altLang="en-US" sz="2000" dirty="0"/>
              <a:t>원본 가중치 </a:t>
            </a:r>
            <a:r>
              <a:rPr lang="en-US" altLang="ko-KR" sz="2000" dirty="0"/>
              <a:t>100% </a:t>
            </a:r>
            <a:r>
              <a:rPr lang="ko-KR" altLang="en-US" sz="2000" dirty="0"/>
              <a:t>반영</a:t>
            </a:r>
            <a:endParaRPr lang="en-US" altLang="ko-KR" sz="2000" dirty="0"/>
          </a:p>
          <a:p>
            <a:pPr marL="742950" lvl="1" indent="-285750">
              <a:buFontTx/>
              <a:buChar char="-"/>
            </a:pPr>
            <a:r>
              <a:rPr lang="en-US" altLang="ko-KR" sz="2000" dirty="0"/>
              <a:t>1~2</a:t>
            </a:r>
            <a:r>
              <a:rPr lang="ko-KR" altLang="en-US" sz="2000" dirty="0"/>
              <a:t>개월</a:t>
            </a:r>
            <a:r>
              <a:rPr lang="en-US" altLang="ko-KR" sz="2000" dirty="0"/>
              <a:t>: 70%</a:t>
            </a:r>
          </a:p>
          <a:p>
            <a:pPr marL="742950" lvl="1" indent="-285750">
              <a:buFontTx/>
              <a:buChar char="-"/>
            </a:pPr>
            <a:r>
              <a:rPr lang="en-US" altLang="ko-KR" sz="2000" dirty="0"/>
              <a:t>2~3</a:t>
            </a:r>
            <a:r>
              <a:rPr lang="ko-KR" altLang="en-US" sz="2000" dirty="0"/>
              <a:t>개월</a:t>
            </a:r>
            <a:r>
              <a:rPr lang="en-US" altLang="ko-KR" sz="2000" dirty="0"/>
              <a:t>: 30%</a:t>
            </a:r>
          </a:p>
          <a:p>
            <a:pPr marL="742950" lvl="1" indent="-285750">
              <a:buFontTx/>
              <a:buChar char="-"/>
            </a:pPr>
            <a:r>
              <a:rPr lang="en-US" altLang="ko-KR" sz="2000" dirty="0"/>
              <a:t>3</a:t>
            </a:r>
            <a:r>
              <a:rPr lang="ko-KR" altLang="en-US" sz="2000" dirty="0"/>
              <a:t>개월</a:t>
            </a:r>
            <a:r>
              <a:rPr lang="en-US" altLang="ko-KR" sz="2000" dirty="0"/>
              <a:t>~: 0%</a:t>
            </a:r>
          </a:p>
          <a:p>
            <a:pPr marL="285750" indent="-285750">
              <a:buFontTx/>
              <a:buChar char="-"/>
            </a:pPr>
            <a:r>
              <a:rPr lang="ko-KR" altLang="en-US" sz="2000" dirty="0"/>
              <a:t>가중치 롤백 등에 대해서는 구매 취소 및 환불에서 설명 처리</a:t>
            </a:r>
            <a:r>
              <a:rPr lang="en-US" altLang="ko-KR" sz="2000" dirty="0"/>
              <a:t>(</a:t>
            </a:r>
            <a:r>
              <a:rPr lang="ko-KR" altLang="en-US" sz="2000" dirty="0"/>
              <a:t>앞</a:t>
            </a:r>
            <a:r>
              <a:rPr lang="en-US" altLang="ko-KR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83554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FAD52-761F-1C7A-766A-507C7BA74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82E9312-B7F0-ADE7-C996-F9EEC8C128B4}"/>
              </a:ext>
            </a:extLst>
          </p:cNvPr>
          <p:cNvSpPr/>
          <p:nvPr/>
        </p:nvSpPr>
        <p:spPr>
          <a:xfrm>
            <a:off x="0" y="0"/>
            <a:ext cx="2281381" cy="6858000"/>
          </a:xfrm>
          <a:prstGeom prst="rect">
            <a:avLst/>
          </a:prstGeom>
          <a:solidFill>
            <a:srgbClr val="FF4B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2CEAA91-A92F-57F0-E993-7631965AC5C0}"/>
              </a:ext>
            </a:extLst>
          </p:cNvPr>
          <p:cNvCxnSpPr>
            <a:cxnSpLocks/>
          </p:cNvCxnSpPr>
          <p:nvPr/>
        </p:nvCxnSpPr>
        <p:spPr>
          <a:xfrm flipV="1">
            <a:off x="2854036" y="1237672"/>
            <a:ext cx="8488218" cy="83128"/>
          </a:xfrm>
          <a:prstGeom prst="line">
            <a:avLst/>
          </a:prstGeom>
          <a:ln>
            <a:solidFill>
              <a:srgbClr val="FF4B11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5C50978-38F8-1AC6-B66F-E910E844D1E1}"/>
              </a:ext>
            </a:extLst>
          </p:cNvPr>
          <p:cNvSpPr txBox="1"/>
          <p:nvPr/>
        </p:nvSpPr>
        <p:spPr>
          <a:xfrm>
            <a:off x="2854036" y="529786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사용자 인증 구축</a:t>
            </a:r>
            <a:endParaRPr lang="en-US" altLang="ko-KR" sz="4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B0668E-106E-5D8E-DBA3-72B4C7D07D1E}"/>
              </a:ext>
            </a:extLst>
          </p:cNvPr>
          <p:cNvSpPr txBox="1"/>
          <p:nvPr/>
        </p:nvSpPr>
        <p:spPr>
          <a:xfrm>
            <a:off x="2854036" y="1408607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*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각 제목은 후에 수정됩니다</a:t>
            </a:r>
            <a:endParaRPr lang="en-US" altLang="ko-KR" sz="1200" dirty="0">
              <a:solidFill>
                <a:schemeClr val="bg2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2C488D-23B4-D4BF-1BC1-4A76B72D1ACE}"/>
              </a:ext>
            </a:extLst>
          </p:cNvPr>
          <p:cNvSpPr txBox="1"/>
          <p:nvPr/>
        </p:nvSpPr>
        <p:spPr>
          <a:xfrm>
            <a:off x="2854036" y="1773413"/>
            <a:ext cx="848821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해당 항목은 다음과 같은 순서로 진행됩니다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회원 가입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회원가입 화면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회원 가입 시 적는 프로필 관련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로그인 화면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이메일 로그인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소셜 로그인 화면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패스워드 찾기 화면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전송 및 이메일 화면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3878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362</Words>
  <Application>Microsoft Office PowerPoint</Application>
  <PresentationFormat>와이드스크린</PresentationFormat>
  <Paragraphs>74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Noto Sans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망고 김</dc:creator>
  <cp:lastModifiedBy>망고 김</cp:lastModifiedBy>
  <cp:revision>9</cp:revision>
  <dcterms:created xsi:type="dcterms:W3CDTF">2026-05-27T01:18:47Z</dcterms:created>
  <dcterms:modified xsi:type="dcterms:W3CDTF">2026-05-27T02:45:39Z</dcterms:modified>
</cp:coreProperties>
</file>