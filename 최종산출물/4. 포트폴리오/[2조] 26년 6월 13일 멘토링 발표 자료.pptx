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86" r:id="rId9"/>
    <p:sldId id="275" r:id="rId10"/>
    <p:sldId id="280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85" r:id="rId19"/>
    <p:sldId id="288" r:id="rId20"/>
    <p:sldId id="289" r:id="rId21"/>
    <p:sldId id="290" r:id="rId22"/>
    <p:sldId id="273" r:id="rId23"/>
    <p:sldId id="281" r:id="rId24"/>
    <p:sldId id="282" r:id="rId25"/>
    <p:sldId id="291" r:id="rId26"/>
    <p:sldId id="287" r:id="rId27"/>
    <p:sldId id="283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6648"/>
    <a:srgbClr val="323944"/>
    <a:srgbClr val="414B59"/>
    <a:srgbClr val="F9F9F9"/>
    <a:srgbClr val="FF7910"/>
    <a:srgbClr val="FF4B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F9650-7FD2-73EA-8640-445ADB3A0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9DB0C5F-1A1D-9372-E174-E2860E506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0F8C7-9A5B-E06D-0D90-D88C1462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4B43D0-93D0-3D74-20DD-1A74435E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831C3-F21C-D51E-81A5-B9059311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72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7E0C26-E70C-033B-D319-41744627B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0D1F31-820E-4FAA-6AF6-1DD493FF4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A2F94-FEC5-A46D-055B-FA2A1A6F9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BA469E-57FC-29E9-518F-B4ABE12CC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F835E6-A627-097C-9375-4C580786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84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20E13-3126-EA03-E4DF-6F4C758F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D4DB92-F09D-4A26-4ED9-17D5482C3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3C5396-AA76-0090-CC2A-0E241DD11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48A551-83CB-6419-4801-A9D2B1328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6292AA-FDDF-B7A9-6AC8-DB75F744A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920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5C2DD-864E-9ED0-12C9-9DC8BE65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7A3CB4-6E1E-0DEC-10BE-41539F85C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ADEF9B-A38B-E718-8D62-027630470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4455E9-8EF6-E148-B670-67C54087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2B6623-2164-A682-C8F8-70DBEB277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AD2992-D9B5-E461-F839-598FF3CF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283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0E5C6-6350-611C-CC89-62A4803B8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8B6452-817E-5E91-D000-2AD3D1DF3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EC34DB-62AC-84B2-D930-A42D0F498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A2A8A8A-456A-9A25-109A-20FD6D1FD5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3C4672-74A6-E5EB-0E71-2D65DA8DB0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7694C31-5E77-04B3-B02D-678F5A43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981255-A650-9235-5CA9-D6ABD8F5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DA9C58A-C64B-E4CB-D271-D7786806A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69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A780C8-FB3F-C4CD-179F-56886A44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5C2AF7-A88B-FBAD-AEE1-CF593AF3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9ED6EA-FDDD-396C-C42E-E49D1B8F8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1B3080-7377-A4A8-CD22-26F64FBEF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32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5833414-6313-E569-B613-038348AFC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81319E5-8E8A-5A5F-FFAB-46FE38F9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02D4A3-8AA3-B4E3-5637-DAC30F815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135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271C2-7B52-989E-1255-4ED45700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7082BD-6CE2-3558-BADA-B794175EC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2930C0-6D86-CB8E-59DD-D560C7770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D5EB45-A74F-C9B8-3C18-FBAD3AC9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F876AC-21DB-9C88-1D64-1B6882F4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BE0965-489F-031C-8B6B-D3123DE09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182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9F3742-8EDD-7BD8-0D82-4B802A2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582407-1AB0-5CEA-D9BD-E7DB8761D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77603A-2F69-4BD8-26F4-F994A802C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4EF01D-DDCE-1AE1-685D-3D1F0ADD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78608C-6C3A-5407-2727-1A2DBAB9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0725C7-BF56-E403-7A53-7B95FDA2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38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E595F-3629-CB34-A763-86BCAB195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D3EB32-6314-EE72-51D5-951FF3BE8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271F9A-5A8F-5600-07D9-DB6FB2C7B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06AD82-5A9B-ABFF-9B16-8B5C21FC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C377F7-3F5A-9656-62A3-AB9ECCC0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5789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A933A56-ABDD-263D-0A4F-B5D39440E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1D309A-A103-18A5-744E-5C0D44FE5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AC072-A803-3854-7BB2-669DACCA7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89F0E3-02A7-9664-1A49-DDADDEF25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68C27C-0BCB-F8EF-2506-46EDAA3A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80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0A9CE6B-64D7-2F36-7BCD-D1C042BF6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3C59CA-E5AE-8141-F9B3-2DBBDEBDCC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37CB7E-BE33-6925-5383-0CDE95C68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53E8C2-4DC7-48E6-81FA-9DDD8E763E42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665A8B-E890-2EC4-4E94-DE7A76E99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E5B973-CEDA-2DAB-DD5F-ABD5F525B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84D16-8B92-44F2-8961-775D25B0F7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79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C38DE5-EC77-3760-FDD6-F5E9C2822A35}"/>
              </a:ext>
            </a:extLst>
          </p:cNvPr>
          <p:cNvSpPr txBox="1"/>
          <p:nvPr/>
        </p:nvSpPr>
        <p:spPr>
          <a:xfrm>
            <a:off x="572655" y="2125008"/>
            <a:ext cx="11226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66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행동로그 추천 시스템</a:t>
            </a:r>
            <a:r>
              <a:rPr lang="en-US" altLang="ko-KR" sz="66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 </a:t>
            </a:r>
            <a:r>
              <a:rPr lang="ko-KR" altLang="en-US" sz="66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기반</a:t>
            </a:r>
            <a:endParaRPr lang="en-US" altLang="ko-KR" sz="6600" b="1" dirty="0">
              <a:solidFill>
                <a:schemeClr val="bg1"/>
              </a:solidFill>
              <a:latin typeface="페이퍼로지 7 Bold" pitchFamily="50" charset="-127"/>
              <a:ea typeface="페이퍼로지 7 Bold" pitchFamily="50" charset="-127"/>
            </a:endParaRPr>
          </a:p>
          <a:p>
            <a:pPr algn="ctr"/>
            <a:r>
              <a:rPr lang="ko-KR" altLang="ko-KR" sz="66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복지 쇼핑몰</a:t>
            </a:r>
            <a:endParaRPr lang="ko-KR" altLang="en-US" sz="6600" b="1" dirty="0">
              <a:solidFill>
                <a:schemeClr val="bg1"/>
              </a:solidFill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1255E-02CC-139F-DA9C-569BC6709917}"/>
              </a:ext>
            </a:extLst>
          </p:cNvPr>
          <p:cNvSpPr txBox="1"/>
          <p:nvPr/>
        </p:nvSpPr>
        <p:spPr>
          <a:xfrm>
            <a:off x="3539837" y="5514110"/>
            <a:ext cx="5292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조</a:t>
            </a:r>
            <a:endParaRPr lang="en-US" altLang="ko-KR" sz="2000" b="1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이지수 </a:t>
            </a:r>
            <a:r>
              <a:rPr lang="ko-KR" altLang="en-US" sz="1600" dirty="0" err="1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전이레</a:t>
            </a:r>
            <a:r>
              <a:rPr lang="ko-KR" altLang="en-US" sz="1600" dirty="0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정인혁</a:t>
            </a:r>
            <a:endParaRPr lang="en-US" altLang="ko-KR" sz="1600" dirty="0">
              <a:solidFill>
                <a:schemeClr val="bg1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7553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1C7726-A86F-8418-A671-A01398695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148E74-906A-7B87-249D-16ED38D6971B}"/>
              </a:ext>
            </a:extLst>
          </p:cNvPr>
          <p:cNvSpPr txBox="1"/>
          <p:nvPr/>
        </p:nvSpPr>
        <p:spPr>
          <a:xfrm>
            <a:off x="877454" y="960582"/>
            <a:ext cx="8321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목차</a:t>
            </a:r>
            <a:endParaRPr lang="en-US" altLang="ko-KR" sz="4400" b="1" dirty="0">
              <a:solidFill>
                <a:schemeClr val="bg1"/>
              </a:solidFill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FD574-A3D0-7B00-4E31-7FCDFCACF333}"/>
              </a:ext>
            </a:extLst>
          </p:cNvPr>
          <p:cNvSpPr txBox="1"/>
          <p:nvPr/>
        </p:nvSpPr>
        <p:spPr>
          <a:xfrm>
            <a:off x="877454" y="1759320"/>
            <a:ext cx="6096000" cy="18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1.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서비스 정의 및 핵심 기능</a:t>
            </a:r>
            <a:endParaRPr lang="en-US" altLang="ko-KR" sz="2000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2.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추천 시스템 설계</a:t>
            </a:r>
            <a:endParaRPr lang="en-US" altLang="ko-KR" sz="2000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3.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행동에 따른 가중치 적용</a:t>
            </a:r>
            <a:endParaRPr lang="en-US" altLang="ko-KR" sz="2000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4. </a:t>
            </a:r>
            <a:r>
              <a:rPr lang="ko-KR" altLang="en-US" sz="2000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메타태그에 따른 점수 적용</a:t>
            </a:r>
          </a:p>
        </p:txBody>
      </p:sp>
    </p:spTree>
    <p:extLst>
      <p:ext uri="{BB962C8B-B14F-4D97-AF65-F5344CB8AC3E}">
        <p14:creationId xmlns:p14="http://schemas.microsoft.com/office/powerpoint/2010/main" val="607688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3F3ECC-350A-07B8-0928-2EE3BCE33326}"/>
              </a:ext>
            </a:extLst>
          </p:cNvPr>
          <p:cNvSpPr txBox="1"/>
          <p:nvPr/>
        </p:nvSpPr>
        <p:spPr>
          <a:xfrm>
            <a:off x="3048811" y="2555663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ko-KR" sz="2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접근성 중심의 상품중</a:t>
            </a:r>
            <a:r>
              <a:rPr lang="ko-KR" altLang="en-US" sz="2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개</a:t>
            </a:r>
            <a:r>
              <a:rPr lang="ko-KR" altLang="ko-KR" sz="2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쇼핑몰 구현</a:t>
            </a:r>
            <a:endParaRPr lang="ko-KR" altLang="en-US" sz="24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AF773-A757-256E-40A5-F0701D42D063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EA6F33-B200-B840-6503-B263D1D2C2E6}"/>
              </a:ext>
            </a:extLst>
          </p:cNvPr>
          <p:cNvSpPr txBox="1"/>
          <p:nvPr/>
        </p:nvSpPr>
        <p:spPr>
          <a:xfrm>
            <a:off x="3048811" y="219766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대주제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6D330FD0-F73A-1F81-98B4-15416E59E286}"/>
              </a:ext>
            </a:extLst>
          </p:cNvPr>
          <p:cNvSpPr/>
          <p:nvPr/>
        </p:nvSpPr>
        <p:spPr>
          <a:xfrm>
            <a:off x="5631150" y="2326118"/>
            <a:ext cx="112425" cy="11242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3F51B8-CF13-D45A-BFF4-03DE5C324AA4}"/>
              </a:ext>
            </a:extLst>
          </p:cNvPr>
          <p:cNvSpPr txBox="1"/>
          <p:nvPr/>
        </p:nvSpPr>
        <p:spPr>
          <a:xfrm>
            <a:off x="3047189" y="386699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6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접근성 중심 </a:t>
            </a:r>
            <a:r>
              <a:rPr lang="en-US" altLang="ko-KR" sz="36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= </a:t>
            </a:r>
            <a:r>
              <a:rPr lang="ko-KR" altLang="en-US" sz="36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사용자 중심</a:t>
            </a: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0B42C973-8062-A1A6-8B43-9F733D6343B1}"/>
              </a:ext>
            </a:extLst>
          </p:cNvPr>
          <p:cNvSpPr/>
          <p:nvPr/>
        </p:nvSpPr>
        <p:spPr>
          <a:xfrm rot="10800000">
            <a:off x="5974461" y="3375326"/>
            <a:ext cx="243078" cy="209550"/>
          </a:xfrm>
          <a:prstGeom prst="triangl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9DFFCA8-5311-FC4E-ADBB-4902751A1C61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01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6CAF6-1083-8452-CFAE-28587C67B308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서비스 정의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/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어떤 서비스를 만들 것인가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?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83B71D-0AE5-D1E2-6EB5-CC93A31E671B}"/>
              </a:ext>
            </a:extLst>
          </p:cNvPr>
          <p:cNvSpPr txBox="1"/>
          <p:nvPr/>
        </p:nvSpPr>
        <p:spPr>
          <a:xfrm>
            <a:off x="3048811" y="4548492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그렇다면 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사용자</a:t>
            </a:r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를 어떻게 정할 것인가</a:t>
            </a:r>
            <a:r>
              <a:rPr lang="en-US" altLang="ko-KR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?</a:t>
            </a:r>
            <a:endParaRPr lang="ko-KR" altLang="en-US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8544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30E75B-1343-167D-C739-092F5DE51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943C4E4-CD75-9B1D-BF17-029CA3D685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8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15" t="9074" r="10741" b="10495"/>
          <a:stretch>
            <a:fillRect/>
          </a:stretch>
        </p:blipFill>
        <p:spPr bwMode="auto">
          <a:xfrm>
            <a:off x="3686247" y="1282900"/>
            <a:ext cx="8340437" cy="4230643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6B5E34A-9582-148F-DDE3-A1DD86FCAE52}"/>
              </a:ext>
            </a:extLst>
          </p:cNvPr>
          <p:cNvSpPr txBox="1"/>
          <p:nvPr/>
        </p:nvSpPr>
        <p:spPr>
          <a:xfrm>
            <a:off x="325725" y="5969815"/>
            <a:ext cx="60943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우리 교육 과정인 </a:t>
            </a:r>
            <a:r>
              <a:rPr lang="ko-KR" altLang="en-US" sz="1600" dirty="0" err="1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현대이지웰</a:t>
            </a:r>
            <a:r>
              <a:rPr lang="ko-KR" altLang="en-US" sz="16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의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sz="16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복지몰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서비스에서 착안하여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직장인을 대상으로 한 쇼핑몰 형태로 결정하였습니다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C0332-2664-2B4C-8E51-16CFE50DAFA1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D7BE6A-9D85-FEE1-3C28-CDD90289A95E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01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7FD826-3E2A-2133-A2CC-5F6C551B581E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서비스 정의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/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어떤 서비스를 만들 것인가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35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473A2E-1E1A-BE93-5FB3-60642B4B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01CD28-9482-DBDE-2B56-F23A4F2A1F5D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5F34BC6-7AF8-A4BB-966A-EBB83532E142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01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790EE-5A73-EE25-809C-D65209CC9B58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서비스 대상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누구를 대상으로 할 것인가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?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DC754B2-277D-8686-5ECD-C8F0547F03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12" t="13003" r="26983" b="2500"/>
          <a:stretch>
            <a:fillRect/>
          </a:stretch>
        </p:blipFill>
        <p:spPr>
          <a:xfrm>
            <a:off x="6551941" y="531594"/>
            <a:ext cx="4727339" cy="5794811"/>
          </a:xfrm>
          <a:prstGeom prst="rect">
            <a:avLst/>
          </a:prstGeom>
          <a:effectLst>
            <a:outerShdw blurRad="152400" dist="139700" dir="2700000" algn="tl" rotWithShape="0">
              <a:schemeClr val="bg1">
                <a:lumMod val="65000"/>
                <a:alpha val="40000"/>
              </a:scheme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3BF5FD-0E25-DDB5-B309-8711EB865B5F}"/>
              </a:ext>
            </a:extLst>
          </p:cNvPr>
          <p:cNvSpPr txBox="1"/>
          <p:nvPr/>
        </p:nvSpPr>
        <p:spPr>
          <a:xfrm>
            <a:off x="325725" y="5113071"/>
            <a:ext cx="49827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323944"/>
                </a:solidFill>
                <a:latin typeface="프리젠테이션 7 Bold" pitchFamily="50" charset="-127"/>
                <a:ea typeface="프리젠테이션 7 Bold" pitchFamily="50" charset="-127"/>
              </a:rPr>
              <a:t>활동량 및 업무량이 가장 많은</a:t>
            </a:r>
            <a:endParaRPr lang="en-US" altLang="ko-KR" sz="2000" dirty="0">
              <a:solidFill>
                <a:srgbClr val="323944"/>
              </a:solidFill>
              <a:latin typeface="프리젠테이션 7 Bold" pitchFamily="50" charset="-127"/>
              <a:ea typeface="프리젠테이션 7 Bold" pitchFamily="50" charset="-127"/>
            </a:endParaRPr>
          </a:p>
          <a:p>
            <a:r>
              <a:rPr lang="en-US" altLang="ko-KR" sz="2000" dirty="0">
                <a:solidFill>
                  <a:srgbClr val="323944"/>
                </a:solidFill>
                <a:latin typeface="프리젠테이션 7 Bold" pitchFamily="50" charset="-127"/>
                <a:ea typeface="프리젠테이션 7 Bold" pitchFamily="50" charset="-127"/>
              </a:rPr>
              <a:t>30·40</a:t>
            </a:r>
            <a:r>
              <a:rPr lang="ko-KR" altLang="en-US" sz="2000" dirty="0">
                <a:solidFill>
                  <a:srgbClr val="323944"/>
                </a:solidFill>
                <a:latin typeface="프리젠테이션 7 Bold" pitchFamily="50" charset="-127"/>
                <a:ea typeface="프리젠테이션 7 Bold" pitchFamily="50" charset="-127"/>
              </a:rPr>
              <a:t>대 직장인을 대상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 및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40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 직장인이 상품을 찾기 위한 시간 및 피로도를 감축할 수 있는 추천 시스템을 고안했습니다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 30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 및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40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대가 관심 가질만한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5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개의 카테고리를 토대로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메타태그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와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사용자 행동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을 바탕으로 하였습니다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7037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D2DAA-3CA2-2693-4411-8B642061B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F888D0C-67B0-B7D4-BD77-A7E2BCF97322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2E12A4D-0966-8065-E407-B60DC96A08C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01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01D38-9FE6-95F1-0BAB-98DBAA2D083D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핵심 기능 소개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우리 서비스의 </a:t>
            </a:r>
            <a:r>
              <a:rPr lang="ko-KR" altLang="en-US" dirty="0" err="1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차별점</a:t>
            </a:r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D568285-E188-2A66-341C-CF208D6447D6}"/>
              </a:ext>
            </a:extLst>
          </p:cNvPr>
          <p:cNvSpPr/>
          <p:nvPr/>
        </p:nvSpPr>
        <p:spPr>
          <a:xfrm>
            <a:off x="657322" y="1925168"/>
            <a:ext cx="3181253" cy="1380007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페이퍼로지 7 Bold" pitchFamily="50" charset="-127"/>
                <a:ea typeface="페이퍼로지 7 Bold" pitchFamily="50" charset="-127"/>
              </a:rPr>
              <a:t>“</a:t>
            </a:r>
            <a:r>
              <a:rPr lang="ko-KR" altLang="en-US" sz="2000" dirty="0">
                <a:latin typeface="페이퍼로지 7 Bold" pitchFamily="50" charset="-127"/>
                <a:ea typeface="페이퍼로지 7 Bold" pitchFamily="50" charset="-127"/>
              </a:rPr>
              <a:t>메타태그</a:t>
            </a:r>
            <a:r>
              <a:rPr lang="en-US" altLang="ko-KR" sz="2000" dirty="0">
                <a:latin typeface="페이퍼로지 7 Bold" pitchFamily="50" charset="-127"/>
                <a:ea typeface="페이퍼로지 7 Bold" pitchFamily="50" charset="-127"/>
              </a:rPr>
              <a:t>” </a:t>
            </a:r>
            <a:r>
              <a:rPr lang="ko-KR" altLang="en-US" sz="2000" dirty="0">
                <a:latin typeface="페이퍼로지 7 Bold" pitchFamily="50" charset="-127"/>
                <a:ea typeface="페이퍼로지 7 Bold" pitchFamily="50" charset="-127"/>
              </a:rPr>
              <a:t>기반 추천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29CA5C5-9F19-9CF6-6CBB-9B4B5B8BD7CF}"/>
              </a:ext>
            </a:extLst>
          </p:cNvPr>
          <p:cNvSpPr/>
          <p:nvPr/>
        </p:nvSpPr>
        <p:spPr>
          <a:xfrm>
            <a:off x="657321" y="4364366"/>
            <a:ext cx="3181253" cy="1380007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latin typeface="페이퍼로지 7 Bold" pitchFamily="50" charset="-127"/>
                <a:ea typeface="페이퍼로지 7 Bold" pitchFamily="50" charset="-127"/>
              </a:rPr>
              <a:t>사용자의 행동에 따른 추천</a:t>
            </a:r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08825940-77FA-2DF5-DD8A-AEE8F9227734}"/>
              </a:ext>
            </a:extLst>
          </p:cNvPr>
          <p:cNvSpPr/>
          <p:nvPr/>
        </p:nvSpPr>
        <p:spPr>
          <a:xfrm rot="5400000">
            <a:off x="4650825" y="2513359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1309ECAF-A258-8FF7-B5D6-6A0467B0EDCB}"/>
              </a:ext>
            </a:extLst>
          </p:cNvPr>
          <p:cNvSpPr/>
          <p:nvPr/>
        </p:nvSpPr>
        <p:spPr>
          <a:xfrm rot="5400000">
            <a:off x="4651454" y="4949594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A8D8D28-4928-8220-3D9B-330B12CAF216}"/>
              </a:ext>
            </a:extLst>
          </p:cNvPr>
          <p:cNvSpPr/>
          <p:nvPr/>
        </p:nvSpPr>
        <p:spPr>
          <a:xfrm>
            <a:off x="5571546" y="1925167"/>
            <a:ext cx="5344104" cy="1380007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기존 개별 상품 추천이 가지고 있는 추천 범위의 좁음을 극복하고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메타태그 중심의 추상화된 데이터 구조를 통하여 추천 효율성을 높여 사용자의 만족도를 증가시킵니다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4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D1C95BB6-7612-0465-AC88-FDF4693E7D00}"/>
              </a:ext>
            </a:extLst>
          </p:cNvPr>
          <p:cNvSpPr/>
          <p:nvPr/>
        </p:nvSpPr>
        <p:spPr>
          <a:xfrm>
            <a:off x="5571546" y="4364366"/>
            <a:ext cx="5344104" cy="1380007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상품 조회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북마크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장바구니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구매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취소의 다섯 가지 행동을 로그로 기록하고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  <a:b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</a:b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행동에 따라 다른 가중치를 주어 메타태그에 점수를 부과함으로써 사용자가 원하는 상품을 추천 받을 수 있도록 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4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414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D17B08-EDD4-D5AB-9D57-3703358D0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56F6AD-8B7E-E820-4FF3-1E46DAC7F7C0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2EB80B9-9269-46A1-7345-2BC7C725AAED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02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58DCB-B871-6B2E-9231-FF3FD8BAF144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추천 시스템 소개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E008D55C-8DAE-6708-EBBB-54EFCCFA4FF4}"/>
              </a:ext>
            </a:extLst>
          </p:cNvPr>
          <p:cNvSpPr/>
          <p:nvPr/>
        </p:nvSpPr>
        <p:spPr>
          <a:xfrm>
            <a:off x="1208093" y="3276832"/>
            <a:ext cx="2563808" cy="975754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상품에 대한 행동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9E1879A-EDB4-C404-DDCB-5430D4123264}"/>
              </a:ext>
            </a:extLst>
          </p:cNvPr>
          <p:cNvSpPr/>
          <p:nvPr/>
        </p:nvSpPr>
        <p:spPr>
          <a:xfrm>
            <a:off x="4856168" y="3328893"/>
            <a:ext cx="2563808" cy="975754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메타태그에 행동에 따른 가중치 기록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828F1F-A9A1-9C32-7C1B-F4CA3C3D6EA0}"/>
              </a:ext>
            </a:extLst>
          </p:cNvPr>
          <p:cNvSpPr/>
          <p:nvPr/>
        </p:nvSpPr>
        <p:spPr>
          <a:xfrm>
            <a:off x="8504243" y="3276832"/>
            <a:ext cx="2563808" cy="975754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해당 메타태그를 가진 상품을</a:t>
            </a:r>
            <a:endParaRPr lang="en-US" altLang="ko-KR" dirty="0">
              <a:latin typeface="프리젠테이션 5 Medium" pitchFamily="50" charset="-127"/>
              <a:ea typeface="프리젠테이션 5 Medium" pitchFamily="50" charset="-127"/>
            </a:endParaRPr>
          </a:p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우선적으로 목록에 노출</a:t>
            </a:r>
          </a:p>
        </p:txBody>
      </p:sp>
      <p:sp>
        <p:nvSpPr>
          <p:cNvPr id="14" name="이등변 삼각형 13">
            <a:extLst>
              <a:ext uri="{FF2B5EF4-FFF2-40B4-BE49-F238E27FC236}">
                <a16:creationId xmlns:a16="http://schemas.microsoft.com/office/drawing/2014/main" id="{3288DCC3-9DEB-98C6-0D9C-36E95F17D311}"/>
              </a:ext>
            </a:extLst>
          </p:cNvPr>
          <p:cNvSpPr/>
          <p:nvPr/>
        </p:nvSpPr>
        <p:spPr>
          <a:xfrm rot="5400000">
            <a:off x="4192495" y="3711995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이등변 삼각형 14">
            <a:extLst>
              <a:ext uri="{FF2B5EF4-FFF2-40B4-BE49-F238E27FC236}">
                <a16:creationId xmlns:a16="http://schemas.microsoft.com/office/drawing/2014/main" id="{8FD824A0-0E1A-10DC-DE6E-0396108C937A}"/>
              </a:ext>
            </a:extLst>
          </p:cNvPr>
          <p:cNvSpPr/>
          <p:nvPr/>
        </p:nvSpPr>
        <p:spPr>
          <a:xfrm rot="5400000">
            <a:off x="7840570" y="3659934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3E1006-EBB1-59B0-FF12-64F2B8BC95CA}"/>
              </a:ext>
            </a:extLst>
          </p:cNvPr>
          <p:cNvSpPr txBox="1"/>
          <p:nvPr/>
        </p:nvSpPr>
        <p:spPr>
          <a:xfrm>
            <a:off x="3048811" y="1800757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추천의 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3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단계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60BFEDB-226E-2F55-6908-2A5ECF24461C}"/>
              </a:ext>
            </a:extLst>
          </p:cNvPr>
          <p:cNvSpPr/>
          <p:nvPr/>
        </p:nvSpPr>
        <p:spPr>
          <a:xfrm>
            <a:off x="5345400" y="1929210"/>
            <a:ext cx="112425" cy="11242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1C82A3-4579-A7B1-CDD6-67B5BBA9D6E4}"/>
              </a:ext>
            </a:extLst>
          </p:cNvPr>
          <p:cNvSpPr txBox="1"/>
          <p:nvPr/>
        </p:nvSpPr>
        <p:spPr>
          <a:xfrm>
            <a:off x="3048811" y="2175707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다음 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3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단계를 통하여 사용자는 자신이 원하는 상품을 추천 받습니다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6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57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8314E8-1B1A-72B0-A878-8499F055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B6DE08-698B-05B0-1BED-916A62213A2F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14A9E8-C91D-B75D-D3F1-8198169383EB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02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DAEB86-BB10-A837-A56E-AA21BE84C032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가중치 점수 계산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0D0F9B-E0DD-753D-7B8D-49D5441BB446}"/>
              </a:ext>
            </a:extLst>
          </p:cNvPr>
          <p:cNvSpPr txBox="1"/>
          <p:nvPr/>
        </p:nvSpPr>
        <p:spPr>
          <a:xfrm>
            <a:off x="3048811" y="1556872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일반적으로 상품의 가중치 점수는 다음과 같이 산정됩니다</a:t>
            </a:r>
            <a:r>
              <a:rPr lang="en-US" altLang="ko-KR" sz="1600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  <a:endParaRPr lang="ko-KR" altLang="en-US" sz="1600" dirty="0">
              <a:solidFill>
                <a:srgbClr val="FE6648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382AA1-A745-2D09-81FD-5536B44F4ACA}"/>
              </a:ext>
            </a:extLst>
          </p:cNvPr>
          <p:cNvSpPr txBox="1"/>
          <p:nvPr/>
        </p:nvSpPr>
        <p:spPr>
          <a:xfrm>
            <a:off x="4594661" y="3165049"/>
            <a:ext cx="3262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메타태그 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A</a:t>
            </a:r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의 가중치 점수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+</a:t>
            </a:r>
          </a:p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메타태그 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B</a:t>
            </a:r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의 가중치 점수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+</a:t>
            </a:r>
          </a:p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메타태그 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C</a:t>
            </a:r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의 가중치 점수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+</a:t>
            </a:r>
          </a:p>
          <a:p>
            <a:pPr algn="ctr"/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…</a:t>
            </a:r>
          </a:p>
        </p:txBody>
      </p: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01515865-A6C4-38EC-C39A-5FAA7D3F5F5C}"/>
              </a:ext>
            </a:extLst>
          </p:cNvPr>
          <p:cNvSpPr/>
          <p:nvPr/>
        </p:nvSpPr>
        <p:spPr>
          <a:xfrm rot="5400000">
            <a:off x="8197118" y="3448044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A70BB-DD0B-F64C-B1A0-562238732B08}"/>
              </a:ext>
            </a:extLst>
          </p:cNvPr>
          <p:cNvSpPr txBox="1"/>
          <p:nvPr/>
        </p:nvSpPr>
        <p:spPr>
          <a:xfrm>
            <a:off x="862318" y="4529345"/>
            <a:ext cx="3262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상품 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A</a:t>
            </a:r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가 가진 메타태그 </a:t>
            </a:r>
            <a:r>
              <a:rPr lang="en-US" altLang="ko-KR" dirty="0">
                <a:latin typeface="프리젠테이션 7 Bold" pitchFamily="50" charset="-127"/>
                <a:ea typeface="프리젠테이션 7 Bold" pitchFamily="50" charset="-127"/>
              </a:rPr>
              <a:t>A,B,C…</a:t>
            </a:r>
          </a:p>
        </p:txBody>
      </p:sp>
      <p:sp>
        <p:nvSpPr>
          <p:cNvPr id="12" name="이등변 삼각형 11">
            <a:extLst>
              <a:ext uri="{FF2B5EF4-FFF2-40B4-BE49-F238E27FC236}">
                <a16:creationId xmlns:a16="http://schemas.microsoft.com/office/drawing/2014/main" id="{D86D5658-8288-406C-0959-7F65684B8632}"/>
              </a:ext>
            </a:extLst>
          </p:cNvPr>
          <p:cNvSpPr/>
          <p:nvPr/>
        </p:nvSpPr>
        <p:spPr>
          <a:xfrm rot="5400000">
            <a:off x="4207154" y="3448044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2A5E0C5B-90DE-1786-0BC1-81C59E41F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40" y="2899445"/>
            <a:ext cx="1306748" cy="130674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354FAAA-7F8A-F1BE-4BFD-062601943E8F}"/>
              </a:ext>
            </a:extLst>
          </p:cNvPr>
          <p:cNvSpPr txBox="1"/>
          <p:nvPr/>
        </p:nvSpPr>
        <p:spPr>
          <a:xfrm>
            <a:off x="8872249" y="4365378"/>
            <a:ext cx="26176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사용자가 선호하는 메타태그를 보유한 상품이 상단에 올라옴</a:t>
            </a:r>
            <a:endParaRPr lang="en-US" altLang="ko-KR" dirty="0"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FB496A-48B1-C00B-0352-B2D792144397}"/>
              </a:ext>
            </a:extLst>
          </p:cNvPr>
          <p:cNvSpPr txBox="1"/>
          <p:nvPr/>
        </p:nvSpPr>
        <p:spPr>
          <a:xfrm>
            <a:off x="4872877" y="4393582"/>
            <a:ext cx="27056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회원의 각 메타태그의</a:t>
            </a:r>
            <a:endParaRPr lang="en-US" altLang="ko-KR" dirty="0">
              <a:latin typeface="프리젠테이션 7 Bold" pitchFamily="50" charset="-127"/>
              <a:ea typeface="프리젠테이션 7 Bold" pitchFamily="50" charset="-127"/>
            </a:endParaRPr>
          </a:p>
          <a:p>
            <a:pPr algn="ctr"/>
            <a:r>
              <a:rPr lang="ko-KR" altLang="en-US" dirty="0">
                <a:latin typeface="프리젠테이션 7 Bold" pitchFamily="50" charset="-127"/>
                <a:ea typeface="프리젠테이션 7 Bold" pitchFamily="50" charset="-127"/>
              </a:rPr>
              <a:t>점수를 합산</a:t>
            </a:r>
            <a:endParaRPr lang="en-US" altLang="ko-KR" dirty="0">
              <a:latin typeface="프리젠테이션 7 Bold" pitchFamily="50" charset="-127"/>
              <a:ea typeface="프리젠테이션 7 Bold" pitchFamily="50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FAB1011-6630-91BF-27D1-010046F0D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18" y="2786270"/>
            <a:ext cx="1533098" cy="153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051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FAF3C-2476-EFF0-EFB1-DFEDFDB7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65977D-74F7-1BF2-867D-A95A3ADBC71E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72E37DE-AE10-5866-67FF-2AA3F23BC5F5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02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9297F1-B7C0-3D87-5A27-56E423E0CDF2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초기 프로필에 따른 추천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43BBC0-2D83-F0DD-D2DC-B40148749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83" t="17222" r="34214" b="10128"/>
          <a:stretch>
            <a:fillRect/>
          </a:stretch>
        </p:blipFill>
        <p:spPr>
          <a:xfrm>
            <a:off x="7662390" y="672695"/>
            <a:ext cx="3762374" cy="5512610"/>
          </a:xfrm>
          <a:prstGeom prst="rect">
            <a:avLst/>
          </a:prstGeom>
          <a:effectLst>
            <a:outerShdw blurRad="63500" dist="76200" dir="2700000" algn="tl" rotWithShape="0">
              <a:schemeClr val="bg1">
                <a:lumMod val="65000"/>
                <a:alpha val="40000"/>
              </a:scheme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235C4-3B73-CDFE-450D-C3C0B4F71353}"/>
              </a:ext>
            </a:extLst>
          </p:cNvPr>
          <p:cNvSpPr txBox="1"/>
          <p:nvPr/>
        </p:nvSpPr>
        <p:spPr>
          <a:xfrm>
            <a:off x="325725" y="5478561"/>
            <a:ext cx="6414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사용자가 행동하기 전까지는 사용자의 선호를 알 수 없기 때문에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회원 가입 시 자신의 추천 정보를 프로필로 입력하게 하여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초기 선호도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분석합니다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초기 입력에서는 사용자가 바꾸기 어려운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직종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/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나이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제외하고는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20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점의 가중치 점수가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들어갑니다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4531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9BDFB7-1B50-894F-8DF8-5CED47D57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3B1D5-540A-A819-2167-291E10C5DD9C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4129916-BDD6-3E75-C0DA-B87ED2B5BBC0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2F3145-D192-3724-A914-CBB572AFBA25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75559-C08F-A88E-A512-1D62E7679343}"/>
              </a:ext>
            </a:extLst>
          </p:cNvPr>
          <p:cNvSpPr txBox="1"/>
          <p:nvPr/>
        </p:nvSpPr>
        <p:spPr>
          <a:xfrm>
            <a:off x="876859" y="159067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사용자의 다섯 가지 행동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2D14FF4C-6375-908C-FC15-3A027A026AAB}"/>
              </a:ext>
            </a:extLst>
          </p:cNvPr>
          <p:cNvSpPr/>
          <p:nvPr/>
        </p:nvSpPr>
        <p:spPr>
          <a:xfrm>
            <a:off x="988920" y="2131260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조회</a:t>
            </a:r>
            <a:endParaRPr lang="ko-KR" altLang="en-US" dirty="0">
              <a:latin typeface="프리젠테이션 5 Medium" pitchFamily="50" charset="-127"/>
              <a:ea typeface="프리젠테이션 5 Medium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40899F7-338A-30A4-A9EF-38C3B0070B0D}"/>
              </a:ext>
            </a:extLst>
          </p:cNvPr>
          <p:cNvSpPr/>
          <p:nvPr/>
        </p:nvSpPr>
        <p:spPr>
          <a:xfrm>
            <a:off x="2722469" y="2131260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북마크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19CD9C0-FB5E-18D9-664C-F2AE9D0A5252}"/>
              </a:ext>
            </a:extLst>
          </p:cNvPr>
          <p:cNvSpPr/>
          <p:nvPr/>
        </p:nvSpPr>
        <p:spPr>
          <a:xfrm>
            <a:off x="4444002" y="2131260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장바구니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587433C-E727-7916-8BD8-459D6EE26DCE}"/>
              </a:ext>
            </a:extLst>
          </p:cNvPr>
          <p:cNvSpPr/>
          <p:nvPr/>
        </p:nvSpPr>
        <p:spPr>
          <a:xfrm>
            <a:off x="6165535" y="2131260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구매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0526157-9739-C8F5-04CB-93A81B1BF873}"/>
              </a:ext>
            </a:extLst>
          </p:cNvPr>
          <p:cNvSpPr/>
          <p:nvPr/>
        </p:nvSpPr>
        <p:spPr>
          <a:xfrm>
            <a:off x="9591675" y="2131259"/>
            <a:ext cx="1611405" cy="792915"/>
          </a:xfrm>
          <a:prstGeom prst="roundRect">
            <a:avLst>
              <a:gd name="adj" fmla="val 3885"/>
            </a:avLst>
          </a:prstGeom>
          <a:solidFill>
            <a:srgbClr val="F9F9F9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취소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B27B24-4544-11ED-E03D-870CDB2567D3}"/>
              </a:ext>
            </a:extLst>
          </p:cNvPr>
          <p:cNvSpPr txBox="1"/>
          <p:nvPr/>
        </p:nvSpPr>
        <p:spPr>
          <a:xfrm>
            <a:off x="990542" y="3136612"/>
            <a:ext cx="64389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각 행동에 따라 다른 가중치 점수를 부여하여 추천의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정밀도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높이도록 설계합니다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행동 점수의 기준은 사용자의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번거로움 정도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와 사용자의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경제적 위험부담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설정했습니다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 점수 체계에서 최소 점수는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최고 점수는 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10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점입니다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829132-6C72-6A58-CA96-0CE93BD4493D}"/>
              </a:ext>
            </a:extLst>
          </p:cNvPr>
          <p:cNvSpPr txBox="1"/>
          <p:nvPr/>
        </p:nvSpPr>
        <p:spPr>
          <a:xfrm>
            <a:off x="990542" y="6198175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기준에 대한 참고는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kumo.ai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와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amazon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의 사용자 메타데이터 문서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참고했습니다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pic>
        <p:nvPicPr>
          <p:cNvPr id="2050" name="Picture 2" descr="Kumo.AI Unveils New Predictive AI Platform Featuring SQL-like Predictive  Querying Language">
            <a:extLst>
              <a:ext uri="{FF2B5EF4-FFF2-40B4-BE49-F238E27FC236}">
                <a16:creationId xmlns:a16="http://schemas.microsoft.com/office/drawing/2014/main" id="{2912447F-E10C-C1F7-75AB-E931CE4F6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0175" y="4012525"/>
            <a:ext cx="2609850" cy="145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C4AA6F7-4BFC-9F41-ECFE-0F5721B6D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797" y="5541595"/>
            <a:ext cx="3044756" cy="919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5794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0A31D-0374-9C6F-18B3-14FB086D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4C0B3B-53CD-9FC2-6928-BD43BA4A1E80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04338A1-F5BE-E90B-C904-5F6C1F28D6D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592C56-458A-1119-6EB8-A608D7D8CCEC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조회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(VIEW)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652EC-EA0B-5B08-7439-960A0AE75CF2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조회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상품을 보는 행위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66E37-E7BF-FD39-6B88-F3EE10609948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관심의 표현이기도 하지만 사용자의 번거로움과 경제적 위험부담은 가장↓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실수나 우연의 가능성이 ↑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1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점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(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최저점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)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가중치 점수를 산정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C800D63-014A-2902-3D05-4408F5E4350A}"/>
              </a:ext>
            </a:extLst>
          </p:cNvPr>
          <p:cNvSpPr/>
          <p:nvPr/>
        </p:nvSpPr>
        <p:spPr>
          <a:xfrm>
            <a:off x="7687573" y="1328106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단순 조회만 한 경우는 가중치에 반영하지 않게 하기 위해 </a:t>
            </a:r>
            <a:r>
              <a:rPr lang="en-US" altLang="ko-KR" sz="1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10</a:t>
            </a:r>
            <a:r>
              <a:rPr lang="ko-KR" altLang="en-US" sz="1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초의 체류 시간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과 </a:t>
            </a:r>
            <a:r>
              <a:rPr lang="ko-KR" altLang="en-US" sz="14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후속 작업 처리 여부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를 반영합니다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374DA34-B721-81C2-C0BC-E8AD638C4DD6}"/>
              </a:ext>
            </a:extLst>
          </p:cNvPr>
          <p:cNvSpPr/>
          <p:nvPr/>
        </p:nvSpPr>
        <p:spPr>
          <a:xfrm>
            <a:off x="7210678" y="1182169"/>
            <a:ext cx="1504697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단순 조회 방지</a:t>
            </a:r>
          </a:p>
        </p:txBody>
      </p:sp>
      <p:sp>
        <p:nvSpPr>
          <p:cNvPr id="11" name="이등변 삼각형 10">
            <a:extLst>
              <a:ext uri="{FF2B5EF4-FFF2-40B4-BE49-F238E27FC236}">
                <a16:creationId xmlns:a16="http://schemas.microsoft.com/office/drawing/2014/main" id="{8825F2B5-4893-173C-8820-C9B425227DFD}"/>
              </a:ext>
            </a:extLst>
          </p:cNvPr>
          <p:cNvSpPr/>
          <p:nvPr/>
        </p:nvSpPr>
        <p:spPr>
          <a:xfrm rot="5400000">
            <a:off x="6539714" y="3124170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89FB48E-01CF-DD63-70C6-C5AA4C869FF2}"/>
              </a:ext>
            </a:extLst>
          </p:cNvPr>
          <p:cNvSpPr/>
          <p:nvPr/>
        </p:nvSpPr>
        <p:spPr>
          <a:xfrm>
            <a:off x="7687573" y="5056039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조회 행위는 많이 일어나므로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부담을 줄이기 위해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큐에 적재한 뒤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Batch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로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반영합니다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5C0844-CA71-FDC8-F097-469C668AF9CC}"/>
              </a:ext>
            </a:extLst>
          </p:cNvPr>
          <p:cNvSpPr/>
          <p:nvPr/>
        </p:nvSpPr>
        <p:spPr>
          <a:xfrm>
            <a:off x="7210678" y="4857810"/>
            <a:ext cx="1372860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프리젠테이션 5 Medium" pitchFamily="50" charset="-127"/>
                <a:ea typeface="프리젠테이션 5 Medium" pitchFamily="50" charset="-127"/>
              </a:rPr>
              <a:t>Redis </a:t>
            </a:r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적재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233B19A-0EAC-8A01-8D99-E85794CF0C5E}"/>
              </a:ext>
            </a:extLst>
          </p:cNvPr>
          <p:cNvSpPr/>
          <p:nvPr/>
        </p:nvSpPr>
        <p:spPr>
          <a:xfrm>
            <a:off x="7687573" y="3130940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en-US" altLang="ko-KR" sz="1400" b="1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30</a:t>
            </a:r>
            <a:r>
              <a:rPr lang="ko-KR" altLang="en-US" sz="1400" b="1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분 기준 </a:t>
            </a:r>
            <a:r>
              <a:rPr lang="en-US" altLang="ko-KR" sz="1400" b="1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1</a:t>
            </a:r>
            <a:r>
              <a:rPr lang="ko-KR" altLang="en-US" sz="1400" b="1" dirty="0">
                <a:solidFill>
                  <a:srgbClr val="FE6648"/>
                </a:solidFill>
                <a:latin typeface="프리젠테이션 4 Regular" pitchFamily="50" charset="-127"/>
                <a:ea typeface="프리젠테이션 4 Regular" pitchFamily="50" charset="-127"/>
              </a:rPr>
              <a:t>회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만 반영하여 중복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·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반복 조회로 인한 왜곡을 줄입니다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1E98EC0D-BCD9-BC5C-B9E7-ECCCE1049ED6}"/>
              </a:ext>
            </a:extLst>
          </p:cNvPr>
          <p:cNvSpPr/>
          <p:nvPr/>
        </p:nvSpPr>
        <p:spPr>
          <a:xfrm>
            <a:off x="7210678" y="2985003"/>
            <a:ext cx="1504697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중복 기록 방지</a:t>
            </a:r>
            <a:endParaRPr lang="ko-KR" altLang="en-US" dirty="0">
              <a:latin typeface="프리젠테이션 5 Medium" pitchFamily="50" charset="-127"/>
              <a:ea typeface="프리젠테이션 5 Medium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1600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3C3E7-25BA-6211-424F-572BDAFC6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21AA8DE-F3F7-F635-4B38-156F854F188D}"/>
              </a:ext>
            </a:extLst>
          </p:cNvPr>
          <p:cNvSpPr/>
          <p:nvPr/>
        </p:nvSpPr>
        <p:spPr>
          <a:xfrm>
            <a:off x="7687573" y="2145601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실수로 북마크를 등록했을 가능성을 고려하여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분간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 pending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두고 등록이 유지된 경우에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적재합니다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AD17C-2EA8-E387-AB1F-E8B6CA8E8BB2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6605E17-A900-DC76-C78E-7AA7109472E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231647-98A8-DDAD-E976-FAAD1F12861E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북마크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(BOOKMARK)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059609-8872-89F2-04F5-D4AAA299E69D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북마크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상품에 대한 관심을 나타내는 행위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E1A62-8ED5-601E-5B04-C30C02C56C5A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번거로움은 조회보다 높지만 경제적 위험부담은 ↓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실수 가능성이 존재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3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점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가중치 점수를 산정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A100402-E8EF-B154-EBDC-A2B7C16CDF90}"/>
              </a:ext>
            </a:extLst>
          </p:cNvPr>
          <p:cNvSpPr/>
          <p:nvPr/>
        </p:nvSpPr>
        <p:spPr>
          <a:xfrm>
            <a:off x="7210678" y="1999664"/>
            <a:ext cx="1154205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실수 방지</a:t>
            </a: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34FF31EA-C29E-57C0-C151-57C2D7180C41}"/>
              </a:ext>
            </a:extLst>
          </p:cNvPr>
          <p:cNvSpPr/>
          <p:nvPr/>
        </p:nvSpPr>
        <p:spPr>
          <a:xfrm rot="5400000">
            <a:off x="6539714" y="3316986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CCD6441C-BDA6-0996-599D-058D26CA3606}"/>
              </a:ext>
            </a:extLst>
          </p:cNvPr>
          <p:cNvSpPr/>
          <p:nvPr/>
        </p:nvSpPr>
        <p:spPr>
          <a:xfrm>
            <a:off x="7687573" y="3976672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북마크 등록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·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취소가 잦아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바로 쓰면 부담이 커지므로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Redis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적재한 뒤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Batch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로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반영합니다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08D419F-EA08-77CE-0E0A-1C935F53E4B3}"/>
              </a:ext>
            </a:extLst>
          </p:cNvPr>
          <p:cNvSpPr/>
          <p:nvPr/>
        </p:nvSpPr>
        <p:spPr>
          <a:xfrm>
            <a:off x="7210678" y="3778443"/>
            <a:ext cx="1372860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프리젠테이션 5 Medium" pitchFamily="50" charset="-127"/>
                <a:ea typeface="프리젠테이션 5 Medium" pitchFamily="50" charset="-127"/>
              </a:rPr>
              <a:t>Redis </a:t>
            </a:r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적재</a:t>
            </a:r>
          </a:p>
        </p:txBody>
      </p:sp>
    </p:spTree>
    <p:extLst>
      <p:ext uri="{BB962C8B-B14F-4D97-AF65-F5344CB8AC3E}">
        <p14:creationId xmlns:p14="http://schemas.microsoft.com/office/powerpoint/2010/main" val="4205530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A99EA3-43F1-8001-70D2-3041500F9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AEA864-397E-832A-178C-02D31602B44C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3E541E1-A6F7-AB0D-6AA3-0D2604F063FA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120A9D-130D-9B56-E385-0B7C7D29C925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장바구니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(CART)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79EEF8-7DA3-0FE0-79F5-937385E29372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장바구니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상품에 대한 강한 구매 의사를 나타내는 행위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E7668-8FFD-382A-97A6-034E65DB7375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구매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직전 단계로서 사용자의 번거로움이 ↑ 하지만 경제적 위험부담은 ↓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과정에서 사용자의 실수는 거의 일어나지 않음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5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점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가중치 점수를 산정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21D045D8-7F7F-2406-F762-546F44B45A7F}"/>
              </a:ext>
            </a:extLst>
          </p:cNvPr>
          <p:cNvSpPr/>
          <p:nvPr/>
        </p:nvSpPr>
        <p:spPr>
          <a:xfrm rot="5400000">
            <a:off x="6568289" y="3316986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AC9E560-DBD9-BE64-5776-B797A47C00EF}"/>
              </a:ext>
            </a:extLst>
          </p:cNvPr>
          <p:cNvSpPr/>
          <p:nvPr/>
        </p:nvSpPr>
        <p:spPr>
          <a:xfrm>
            <a:off x="7687573" y="3049701"/>
            <a:ext cx="3999242" cy="121029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실수 가능성은 적지만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장바구니 삭제 혹은 변심 등의 가능성이 존재합니다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적재하여 후에 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Batch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처리합니다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D7D492-4F59-5C3C-686D-D3077D206AA1}"/>
              </a:ext>
            </a:extLst>
          </p:cNvPr>
          <p:cNvSpPr/>
          <p:nvPr/>
        </p:nvSpPr>
        <p:spPr>
          <a:xfrm>
            <a:off x="7210678" y="2903764"/>
            <a:ext cx="1372860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프리젠테이션 5 Medium" pitchFamily="50" charset="-127"/>
                <a:ea typeface="프리젠테이션 5 Medium" pitchFamily="50" charset="-127"/>
              </a:rPr>
              <a:t>Redis </a:t>
            </a:r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적재</a:t>
            </a:r>
          </a:p>
        </p:txBody>
      </p:sp>
    </p:spTree>
    <p:extLst>
      <p:ext uri="{BB962C8B-B14F-4D97-AF65-F5344CB8AC3E}">
        <p14:creationId xmlns:p14="http://schemas.microsoft.com/office/powerpoint/2010/main" val="458276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0BF13E-3B40-5780-835C-33F3A1EC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C0359A-D60A-2C36-42A8-4CE2A48206E0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670B48D-E4F7-D1F5-B3D8-8D29B86EC149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840239-F065-DD0A-5C1E-8F2797ABE335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구매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(BUY)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9D626-65FE-5AAC-6714-4F1455213323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구매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상품에 대한 확실한 선호의 표현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6339C-53F1-6017-959C-87935A9A3FEA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번거로움과 경제적 위험부담이 가장 ↑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과정에서 사용자의 실수는 일어나지 않음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10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점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(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최고점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)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으로 가중치 점수를 산정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C9053E1-557A-95AB-7085-888842E0642D}"/>
              </a:ext>
            </a:extLst>
          </p:cNvPr>
          <p:cNvSpPr/>
          <p:nvPr/>
        </p:nvSpPr>
        <p:spPr>
          <a:xfrm>
            <a:off x="7687573" y="3049701"/>
            <a:ext cx="3999242" cy="1283399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 w="12700"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실수가 일어나지 않고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가장 강력한 선호의 표현이며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이후 결제 취소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환불 처리의 과정이 복잡한 것을 감안</a:t>
            </a:r>
            <a:endParaRPr lang="en-US" altLang="ko-KR" sz="14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배치 과정을 거치지 않습니다</a:t>
            </a:r>
            <a:r>
              <a:rPr lang="en-US" altLang="ko-KR" sz="14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4B415DA-C203-FD08-9038-160516FDF701}"/>
              </a:ext>
            </a:extLst>
          </p:cNvPr>
          <p:cNvSpPr/>
          <p:nvPr/>
        </p:nvSpPr>
        <p:spPr>
          <a:xfrm>
            <a:off x="7210678" y="2903764"/>
            <a:ext cx="1154205" cy="396458"/>
          </a:xfrm>
          <a:prstGeom prst="roundRect">
            <a:avLst>
              <a:gd name="adj" fmla="val 47130"/>
            </a:avLst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바로 적용</a:t>
            </a:r>
          </a:p>
        </p:txBody>
      </p:sp>
      <p:sp>
        <p:nvSpPr>
          <p:cNvPr id="17" name="이등변 삼각형 16">
            <a:extLst>
              <a:ext uri="{FF2B5EF4-FFF2-40B4-BE49-F238E27FC236}">
                <a16:creationId xmlns:a16="http://schemas.microsoft.com/office/drawing/2014/main" id="{BF758516-0EBE-708C-8598-C1C1E6E12773}"/>
              </a:ext>
            </a:extLst>
          </p:cNvPr>
          <p:cNvSpPr/>
          <p:nvPr/>
        </p:nvSpPr>
        <p:spPr>
          <a:xfrm rot="5400000">
            <a:off x="6539714" y="3316986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276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0C2C5-CD6B-0752-7F83-6E89C5156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68C81E-8B04-8BB3-E8F3-194AF2B27299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7C6C3E-16AB-E9D4-08B8-8939EAA9779F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D7F8C-FEB2-2CF0-0618-E83B5B7A9CC3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다섯 가지 행동에 따른 지침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취소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(CANCEL)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7B4C30-ED8B-C6AA-CACA-F724FEA2057D}"/>
              </a:ext>
            </a:extLst>
          </p:cNvPr>
          <p:cNvSpPr txBox="1"/>
          <p:nvPr/>
        </p:nvSpPr>
        <p:spPr>
          <a:xfrm>
            <a:off x="1116300" y="3028890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취소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는 사용자가 보였던 상품에 대한 관심을 철회</a:t>
            </a:r>
            <a:r>
              <a:rPr lang="en-US" altLang="ko-KR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부정하는 행위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AF15F-E7C7-CE4B-028B-746D93E3158F}"/>
              </a:ext>
            </a:extLst>
          </p:cNvPr>
          <p:cNvSpPr txBox="1"/>
          <p:nvPr/>
        </p:nvSpPr>
        <p:spPr>
          <a:xfrm>
            <a:off x="1116300" y="3429000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특히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구매 취소</a:t>
            </a:r>
            <a:r>
              <a:rPr lang="en-US" altLang="ko-KR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/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환불 절차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의 경우 번거로움을 감수하고 상품에 대한 관심을 철회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소비자 성향에 대한 분석을 위하여 별도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로그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로 기록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이전에 기록한 점수는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롤백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0637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9244DF-2FEC-56B5-6139-9F3BA7F4A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9B4D0-8B79-5AD0-A19E-41CD41254E1B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25AD660-71C8-A884-9EDF-4AF041EACF9E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749FD-15BA-BC10-9E3D-CEFBE92D11CB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효율적인 로그 기록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-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배치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Batch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사용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22999-BFBF-4A93-19F4-BBA249391333}"/>
              </a:ext>
            </a:extLst>
          </p:cNvPr>
          <p:cNvSpPr txBox="1"/>
          <p:nvPr/>
        </p:nvSpPr>
        <p:spPr>
          <a:xfrm>
            <a:off x="988920" y="1333440"/>
            <a:ext cx="63417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수가 늘어나면 각 행동에 대한 로그가 많이 쌓이므로</a:t>
            </a:r>
            <a:endParaRPr lang="en-US" altLang="ko-KR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en-US" altLang="ko-KR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에 부담이 됩니다</a:t>
            </a:r>
            <a:r>
              <a:rPr lang="en-US" altLang="ko-KR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 </a:t>
            </a:r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배치</a:t>
            </a:r>
            <a:r>
              <a:rPr lang="ko-KR" altLang="en-US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를 사용하여 일괄 등록합니다</a:t>
            </a:r>
            <a:r>
              <a:rPr lang="en-US" altLang="ko-KR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F6DB358-1205-BB96-7997-7C9E6A87F1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554" y="3062815"/>
            <a:ext cx="1619250" cy="16192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C45E2CF-18EC-F76B-EF14-04349C81B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323" y="2774098"/>
            <a:ext cx="2057400" cy="20574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37BE643-7E58-52C9-1517-E78F883EBC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346" y="3002698"/>
            <a:ext cx="1739484" cy="173948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1DE4AE9-5E7E-3527-872F-8F0F76B96528}"/>
              </a:ext>
            </a:extLst>
          </p:cNvPr>
          <p:cNvSpPr txBox="1"/>
          <p:nvPr/>
        </p:nvSpPr>
        <p:spPr>
          <a:xfrm>
            <a:off x="1213919" y="5524560"/>
            <a:ext cx="26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Redis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사용자 로그들을 축적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D73A85-26E3-B822-6677-FCF6C37B277B}"/>
              </a:ext>
            </a:extLst>
          </p:cNvPr>
          <p:cNvSpPr txBox="1"/>
          <p:nvPr/>
        </p:nvSpPr>
        <p:spPr>
          <a:xfrm>
            <a:off x="5013089" y="5386061"/>
            <a:ext cx="268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 이용이 적은 오전 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2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시에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pPr algn="ctr"/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500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건씩 일괄 처리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865846-598B-151A-C4CD-D039532CCE9D}"/>
              </a:ext>
            </a:extLst>
          </p:cNvPr>
          <p:cNvSpPr txBox="1"/>
          <p:nvPr/>
        </p:nvSpPr>
        <p:spPr>
          <a:xfrm>
            <a:off x="8461139" y="5524560"/>
            <a:ext cx="26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DB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에 등록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2" name="이등변 삼각형 21">
            <a:extLst>
              <a:ext uri="{FF2B5EF4-FFF2-40B4-BE49-F238E27FC236}">
                <a16:creationId xmlns:a16="http://schemas.microsoft.com/office/drawing/2014/main" id="{B263D0DE-8088-3E10-2075-2B472D2C8E14}"/>
              </a:ext>
            </a:extLst>
          </p:cNvPr>
          <p:cNvSpPr/>
          <p:nvPr/>
        </p:nvSpPr>
        <p:spPr>
          <a:xfrm rot="5400000">
            <a:off x="4326590" y="3829087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ED9D84E4-95CD-AFF2-4334-DFE02D822E4A}"/>
              </a:ext>
            </a:extLst>
          </p:cNvPr>
          <p:cNvSpPr/>
          <p:nvPr/>
        </p:nvSpPr>
        <p:spPr>
          <a:xfrm rot="5400000">
            <a:off x="8234825" y="3837007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311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09565-FAEF-9146-9415-3A14E8D9E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4475FD-4601-76BB-6A0F-B2430C1A793C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2F0BA31-61E7-B9DB-2A1A-99EE0DE4C82A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5CACDE-1D00-ACDA-D6E1-8FE98201F20B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효율적인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추천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–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시간에 따른 감쇠 적용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F0A84AE-B4EB-3439-F475-9515B62B7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7350" y="2828955"/>
            <a:ext cx="1600200" cy="1600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EB4322F-26DE-F91A-4A7B-B1B32C48A30B}"/>
              </a:ext>
            </a:extLst>
          </p:cNvPr>
          <p:cNvSpPr txBox="1"/>
          <p:nvPr/>
        </p:nvSpPr>
        <p:spPr>
          <a:xfrm>
            <a:off x="4278347" y="2695605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시간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이 지나면 사용자의 관심 및 선호가 바뀔 수 있습니다</a:t>
            </a:r>
            <a:r>
              <a:rPr lang="en-US" altLang="ko-KR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07A1D-1F1D-2DCA-2961-057F283426BB}"/>
              </a:ext>
            </a:extLst>
          </p:cNvPr>
          <p:cNvSpPr txBox="1"/>
          <p:nvPr/>
        </p:nvSpPr>
        <p:spPr>
          <a:xfrm>
            <a:off x="4278347" y="3095715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모든 점수를 시간에 관계없이 동일하게 부여한다면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선호를 정확히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반영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하지 못할 수 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다음과 같이 시간에 따른 가중치 계수를 조절합니다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F61D8E-11BE-F730-48D8-444F1D17F9BE}"/>
              </a:ext>
            </a:extLst>
          </p:cNvPr>
          <p:cNvSpPr txBox="1"/>
          <p:nvPr/>
        </p:nvSpPr>
        <p:spPr>
          <a:xfrm>
            <a:off x="4278347" y="401433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개월 이내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원본 가중치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100% 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반영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예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: 10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→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1~2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개월 사이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가중치의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70%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만 반영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예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: 10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→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7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2~3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개월 사이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가중치의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30%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만 반영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예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: 10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→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3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개월 초과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합산 대상에서 제외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처리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4426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5430CE-7AFE-F1FC-3B0F-1E9529995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48C317-8EF0-109F-408F-AC8992C62B87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904926E-5701-634C-1DA1-1A6788D9EE3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25738A-1D4C-C7BA-43EC-15FC93362906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행동 보강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설계의 한계와 보강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6D9355-DAC2-E5C8-E0DF-F47264D22EFE}"/>
              </a:ext>
            </a:extLst>
          </p:cNvPr>
          <p:cNvSpPr txBox="1"/>
          <p:nvPr/>
        </p:nvSpPr>
        <p:spPr>
          <a:xfrm>
            <a:off x="4882952" y="1791988"/>
            <a:ext cx="242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앞선 설계의 한계점 세 가지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72B341E-1268-6B32-8D28-74BC5F65C6B4}"/>
              </a:ext>
            </a:extLst>
          </p:cNvPr>
          <p:cNvGrpSpPr/>
          <p:nvPr/>
        </p:nvGrpSpPr>
        <p:grpSpPr>
          <a:xfrm>
            <a:off x="2725875" y="2627625"/>
            <a:ext cx="6740251" cy="2703532"/>
            <a:chOff x="3186875" y="2470607"/>
            <a:chExt cx="6740251" cy="2703532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1E1D750-D074-B8B3-522A-FD462420121F}"/>
                </a:ext>
              </a:extLst>
            </p:cNvPr>
            <p:cNvSpPr/>
            <p:nvPr/>
          </p:nvSpPr>
          <p:spPr>
            <a:xfrm>
              <a:off x="5874956" y="2470607"/>
              <a:ext cx="1364090" cy="1364090"/>
            </a:xfrm>
            <a:prstGeom prst="ellipse">
              <a:avLst/>
            </a:prstGeom>
            <a:solidFill>
              <a:srgbClr val="FE6648"/>
            </a:solidFill>
            <a:ln>
              <a:solidFill>
                <a:srgbClr val="FE66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부적절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추천 위험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93119B5-A304-A822-16CF-490D3FE42CB1}"/>
                </a:ext>
              </a:extLst>
            </p:cNvPr>
            <p:cNvSpPr/>
            <p:nvPr/>
          </p:nvSpPr>
          <p:spPr>
            <a:xfrm>
              <a:off x="3378870" y="2470607"/>
              <a:ext cx="1364090" cy="1364090"/>
            </a:xfrm>
            <a:prstGeom prst="ellipse">
              <a:avLst/>
            </a:prstGeom>
            <a:solidFill>
              <a:srgbClr val="FE6648"/>
            </a:solidFill>
            <a:ln>
              <a:solidFill>
                <a:srgbClr val="FE66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>
                  <a:latin typeface="프리젠테이션 5 Medium" pitchFamily="50" charset="-127"/>
                  <a:ea typeface="프리젠테이션 5 Medium" pitchFamily="50" charset="-127"/>
                </a:rPr>
                <a:t>재행동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설계 부재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9CC3F569-6D25-C435-3F58-293D0652FD63}"/>
                </a:ext>
              </a:extLst>
            </p:cNvPr>
            <p:cNvSpPr/>
            <p:nvPr/>
          </p:nvSpPr>
          <p:spPr>
            <a:xfrm>
              <a:off x="8371042" y="2470607"/>
              <a:ext cx="1364090" cy="1364090"/>
            </a:xfrm>
            <a:prstGeom prst="ellipse">
              <a:avLst/>
            </a:prstGeom>
            <a:solidFill>
              <a:srgbClr val="FE6648"/>
            </a:solidFill>
            <a:ln>
              <a:solidFill>
                <a:srgbClr val="FE66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주기성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  <a:p>
              <a:pPr algn="ctr"/>
              <a:r>
                <a:rPr lang="ko-KR" altLang="en-US" dirty="0">
                  <a:latin typeface="프리젠테이션 5 Medium" pitchFamily="50" charset="-127"/>
                  <a:ea typeface="프리젠테이션 5 Medium" pitchFamily="50" charset="-127"/>
                </a:rPr>
                <a:t>부재</a:t>
              </a:r>
              <a:endParaRPr lang="en-US" altLang="ko-KR" dirty="0">
                <a:latin typeface="프리젠테이션 5 Medium" pitchFamily="50" charset="-127"/>
                <a:ea typeface="프리젠테이션 5 Medium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A352914-2C9D-23B8-AA44-1AEDC0AA15BA}"/>
                </a:ext>
              </a:extLst>
            </p:cNvPr>
            <p:cNvSpPr txBox="1"/>
            <p:nvPr/>
          </p:nvSpPr>
          <p:spPr>
            <a:xfrm>
              <a:off x="3186875" y="4004588"/>
              <a:ext cx="1748079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사용자가 한 상품에 반복적인 행동을 보이는 것은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강한 선호도를 나타낼 수 있음에도 이에 대한 설계가 존재하지 않음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D57705-EBBB-9F8E-C8A3-C42C470D74E6}"/>
                </a:ext>
              </a:extLst>
            </p:cNvPr>
            <p:cNvSpPr txBox="1"/>
            <p:nvPr/>
          </p:nvSpPr>
          <p:spPr>
            <a:xfrm>
              <a:off x="5682961" y="4059760"/>
              <a:ext cx="174807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사용자가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원하지 않는 상품을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추천 받을 가능성이 있음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BFB880A-6FC1-B5DE-DF4A-F8D5F4A7D0B2}"/>
                </a:ext>
              </a:extLst>
            </p:cNvPr>
            <p:cNvSpPr txBox="1"/>
            <p:nvPr/>
          </p:nvSpPr>
          <p:spPr>
            <a:xfrm>
              <a:off x="8179047" y="4056385"/>
              <a:ext cx="174807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기계적인 시간 감쇠는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사용자가 시기 마다 필요한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추천 상품을 받아보지</a:t>
              </a:r>
              <a:endParaRPr lang="en-US" altLang="ko-KR" sz="14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endParaRPr>
            </a:p>
            <a:p>
              <a:pPr algn="ctr"/>
              <a:r>
                <a:rPr lang="ko-KR" altLang="en-US" sz="1400" dirty="0">
                  <a:solidFill>
                    <a:srgbClr val="323944"/>
                  </a:solidFill>
                  <a:latin typeface="프리젠테이션 4 Regular" pitchFamily="50" charset="-127"/>
                  <a:ea typeface="프리젠테이션 4 Regular" pitchFamily="50" charset="-127"/>
                </a:rPr>
                <a:t>못할 수도 있음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0500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00901-4AE4-95BD-CF24-9BC82F9B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95C3C2-3753-0A81-0FDC-8381E80C2ADE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A2DB7CF-124B-FEA1-D37A-AB56E3630CC2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29AE62-3D66-55F5-1A37-C420764A1C16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행동 보강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 err="1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재행동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설계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8CC116-86D0-86A3-DF17-AF93C442271D}"/>
              </a:ext>
            </a:extLst>
          </p:cNvPr>
          <p:cNvSpPr txBox="1"/>
          <p:nvPr/>
        </p:nvSpPr>
        <p:spPr>
          <a:xfrm>
            <a:off x="1321428" y="2699449"/>
            <a:ext cx="2585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북마크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/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장바구니</a:t>
            </a:r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/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구매의 경우 </a:t>
            </a:r>
          </a:p>
        </p:txBody>
      </p:sp>
      <p:sp>
        <p:nvSpPr>
          <p:cNvPr id="3" name="이등변 삼각형 2">
            <a:extLst>
              <a:ext uri="{FF2B5EF4-FFF2-40B4-BE49-F238E27FC236}">
                <a16:creationId xmlns:a16="http://schemas.microsoft.com/office/drawing/2014/main" id="{3FEF9D31-0483-89DB-6807-F2933B40BCFF}"/>
              </a:ext>
            </a:extLst>
          </p:cNvPr>
          <p:cNvSpPr/>
          <p:nvPr/>
        </p:nvSpPr>
        <p:spPr>
          <a:xfrm rot="5400000">
            <a:off x="4095681" y="2779340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67436D-F406-744A-3359-AF917A3F26C9}"/>
              </a:ext>
            </a:extLst>
          </p:cNvPr>
          <p:cNvSpPr txBox="1"/>
          <p:nvPr/>
        </p:nvSpPr>
        <p:spPr>
          <a:xfrm>
            <a:off x="4599708" y="2560949"/>
            <a:ext cx="60682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재행동에 따라 점수가 가속화될 경우 오히려 특정 카테고리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상품으로의 추천이 강해질 우려가 있어 설계에서 수정하지 않기로 함</a:t>
            </a:r>
            <a:endParaRPr lang="en-US" altLang="ko-KR" sz="16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이후 로그 분석 등을 통하여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도입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을 고려하고 있음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338499-D615-41B3-F8AC-A7EE28590EE2}"/>
              </a:ext>
            </a:extLst>
          </p:cNvPr>
          <p:cNvSpPr txBox="1"/>
          <p:nvPr/>
        </p:nvSpPr>
        <p:spPr>
          <a:xfrm>
            <a:off x="1321429" y="3886322"/>
            <a:ext cx="11631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조회의 경우</a:t>
            </a:r>
          </a:p>
        </p:txBody>
      </p:sp>
      <p:sp>
        <p:nvSpPr>
          <p:cNvPr id="10" name="이등변 삼각형 9">
            <a:extLst>
              <a:ext uri="{FF2B5EF4-FFF2-40B4-BE49-F238E27FC236}">
                <a16:creationId xmlns:a16="http://schemas.microsoft.com/office/drawing/2014/main" id="{F8A7498B-AC78-33FA-1C99-B00F7E4E3049}"/>
              </a:ext>
            </a:extLst>
          </p:cNvPr>
          <p:cNvSpPr/>
          <p:nvPr/>
        </p:nvSpPr>
        <p:spPr>
          <a:xfrm rot="5400000">
            <a:off x="4095681" y="3966213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E2A7CE-A9AA-036B-F444-CE1EFA78B5CC}"/>
              </a:ext>
            </a:extLst>
          </p:cNvPr>
          <p:cNvSpPr txBox="1"/>
          <p:nvPr/>
        </p:nvSpPr>
        <p:spPr>
          <a:xfrm>
            <a:off x="4599708" y="365548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단순 클릭 </a:t>
            </a:r>
            <a:r>
              <a:rPr lang="ko-KR" altLang="en-US" sz="16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어뷰징으로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인한 점수 왜곡을 방지해야 하지만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완전한 차단은 오히려 사용자의 관심을 제대로 반영하지 않을 수도 있음</a:t>
            </a:r>
            <a:r>
              <a:rPr lang="en-US" altLang="ko-KR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. 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행동 횟수별로 차등 가산</a:t>
            </a:r>
            <a:r>
              <a:rPr lang="ko-KR" altLang="en-US" sz="16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하는 형태로 재행동을 처리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387BC-16A1-5274-C02E-575DEB6748AC}"/>
              </a:ext>
            </a:extLst>
          </p:cNvPr>
          <p:cNvSpPr txBox="1"/>
          <p:nvPr/>
        </p:nvSpPr>
        <p:spPr>
          <a:xfrm>
            <a:off x="4599708" y="450495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1~5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회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회당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1.0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기본 점수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6~10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회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회당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0.5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기본 점수의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50%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만 반영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11</a:t>
            </a:r>
            <a:r>
              <a:rPr lang="ko-KR" altLang="en-US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회</a:t>
            </a:r>
            <a:r>
              <a:rPr lang="en-US" altLang="ko-KR" sz="1200" b="1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~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회당 </a:t>
            </a:r>
            <a:r>
              <a:rPr lang="en-US" altLang="ko-KR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0.1</a:t>
            </a:r>
            <a:r>
              <a:rPr lang="ko-KR" altLang="en-US" sz="12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 가산</a:t>
            </a:r>
            <a:endParaRPr lang="en-US" altLang="ko-KR" sz="12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6823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F344F2-CBFB-AC64-C8F8-AEE991A2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27BF73-1EEC-78A6-8F96-6FC720E04C9A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BAA2E207-83F0-277E-AB2B-E1A36DF44160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D03362-F39E-BF44-B43E-CC9A6E96686E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행동 보강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부적절 추천 위험 해소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548E4FE-2196-B42F-4501-61EDAB9E2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9" r="27973"/>
          <a:stretch>
            <a:fillRect/>
          </a:stretch>
        </p:blipFill>
        <p:spPr>
          <a:xfrm>
            <a:off x="1187500" y="1106688"/>
            <a:ext cx="2115128" cy="441036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CADE589-0037-F408-6C10-DE4397AC4C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500" y="4260906"/>
            <a:ext cx="1256144" cy="125614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1AB7671-6BCD-38B9-88D1-D9404E72518C}"/>
              </a:ext>
            </a:extLst>
          </p:cNvPr>
          <p:cNvSpPr txBox="1"/>
          <p:nvPr/>
        </p:nvSpPr>
        <p:spPr>
          <a:xfrm>
            <a:off x="1103604" y="5498577"/>
            <a:ext cx="268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당분간 보지 않기 버튼 피드백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594DD4-AD26-0E0F-55E3-79DACE2E9433}"/>
              </a:ext>
            </a:extLst>
          </p:cNvPr>
          <p:cNvSpPr txBox="1"/>
          <p:nvPr/>
        </p:nvSpPr>
        <p:spPr>
          <a:xfrm>
            <a:off x="4474876" y="5498577"/>
            <a:ext cx="268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해당 상품은 즉시 상품 목록에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노출되지 않음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한 달 간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C968D0-E173-DFB8-1547-DA0EC4AF5C12}"/>
              </a:ext>
            </a:extLst>
          </p:cNvPr>
          <p:cNvSpPr txBox="1"/>
          <p:nvPr/>
        </p:nvSpPr>
        <p:spPr>
          <a:xfrm>
            <a:off x="7846149" y="5517050"/>
            <a:ext cx="268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해당 상품의 메타태그 점수는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pPr algn="ctr"/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-5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점</a:t>
            </a:r>
            <a:r>
              <a:rPr lang="en-US" altLang="ko-KR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×</a:t>
            </a:r>
            <a:r>
              <a:rPr lang="ko-KR" altLang="en-US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 계수 감소 처리</a:t>
            </a:r>
            <a:endParaRPr lang="en-US" altLang="ko-KR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7044AEC7-6901-B2CF-AE55-52B7E1E814C4}"/>
              </a:ext>
            </a:extLst>
          </p:cNvPr>
          <p:cNvSpPr/>
          <p:nvPr/>
        </p:nvSpPr>
        <p:spPr>
          <a:xfrm rot="5400000">
            <a:off x="4132627" y="3425628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이등변 삼각형 23">
            <a:extLst>
              <a:ext uri="{FF2B5EF4-FFF2-40B4-BE49-F238E27FC236}">
                <a16:creationId xmlns:a16="http://schemas.microsoft.com/office/drawing/2014/main" id="{CA8BA37F-349C-7433-622F-8FC8EE00E3D6}"/>
              </a:ext>
            </a:extLst>
          </p:cNvPr>
          <p:cNvSpPr/>
          <p:nvPr/>
        </p:nvSpPr>
        <p:spPr>
          <a:xfrm rot="5400000">
            <a:off x="7485427" y="3425628"/>
            <a:ext cx="243078" cy="209550"/>
          </a:xfrm>
          <a:prstGeom prst="triangle">
            <a:avLst/>
          </a:prstGeom>
          <a:solidFill>
            <a:srgbClr val="FE66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A3A880B-FFC6-8C03-18B3-EAC17451BC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7" r="26748" b="8705"/>
          <a:stretch>
            <a:fillRect/>
          </a:stretch>
        </p:blipFill>
        <p:spPr>
          <a:xfrm>
            <a:off x="4812145" y="1272294"/>
            <a:ext cx="2114790" cy="409697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D3C62871-8676-37B9-B4A0-A20F1912A6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031" y="4260906"/>
            <a:ext cx="952509" cy="952509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F220C4A0-545F-3118-EDE8-71C80E03FC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452" y="2791494"/>
            <a:ext cx="1477818" cy="1477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40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24B46-9F9E-A834-19D8-5CC859378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7509D88-2BFB-1776-C64A-2E486B35E067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3B4DF17-B9CA-C5B1-B822-16D136EAC6DF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03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648502-D406-634B-FDA9-327003397B87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행동 보강 </a:t>
            </a:r>
            <a:r>
              <a:rPr lang="en-US" altLang="ko-KR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주기성 처리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247930-112C-BD31-858B-CF2F131E2E1B}"/>
              </a:ext>
            </a:extLst>
          </p:cNvPr>
          <p:cNvSpPr txBox="1"/>
          <p:nvPr/>
        </p:nvSpPr>
        <p:spPr>
          <a:xfrm>
            <a:off x="4278347" y="2843387"/>
            <a:ext cx="60943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해당 시기가 되면 </a:t>
            </a:r>
            <a:r>
              <a:rPr lang="ko-KR" altLang="en-US" sz="20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시간 감쇠</a:t>
            </a:r>
            <a:r>
              <a:rPr lang="ko-KR" altLang="en-US" sz="20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로 인해 감소했던 점수를 복구합니다</a:t>
            </a:r>
            <a:endParaRPr lang="en-US" altLang="ko-KR" sz="2000" dirty="0">
              <a:solidFill>
                <a:srgbClr val="323944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1629AB-3B2B-F891-4C14-784D538AB22B}"/>
              </a:ext>
            </a:extLst>
          </p:cNvPr>
          <p:cNvSpPr txBox="1"/>
          <p:nvPr/>
        </p:nvSpPr>
        <p:spPr>
          <a:xfrm>
            <a:off x="4278347" y="3243497"/>
            <a:ext cx="609437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구매 시기 간격에 맞춰 시간 감쇠로 인하여 감소한 점수를 복구하여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상단에 나오도록 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시즌성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상품일 경우 해당 시즌에 맞춰 시간 감쇠로 인하여 감소한 점수를 복구합니다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58426E8-0600-BBC6-F398-D02C40EF5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473" y="2809250"/>
            <a:ext cx="1699490" cy="169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0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32E93D-305F-0E71-5ED2-357A47048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845F15-BE83-247C-AF4C-5AAFF564AEF5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4AB7001-2B1D-DC84-BA5F-A822DF52E0C0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0E8AC1-FE8F-9E53-5CFC-EFB3B0FD3D86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타입별 가중치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93DDDC-E595-D534-18F8-71A6A47972FD}"/>
              </a:ext>
            </a:extLst>
          </p:cNvPr>
          <p:cNvSpPr txBox="1"/>
          <p:nvPr/>
        </p:nvSpPr>
        <p:spPr>
          <a:xfrm>
            <a:off x="876859" y="1590675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8</a:t>
            </a:r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개의 메타태그 타입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D0852-616F-47AB-7143-E219D6FF56DD}"/>
              </a:ext>
            </a:extLst>
          </p:cNvPr>
          <p:cNvSpPr txBox="1"/>
          <p:nvPr/>
        </p:nvSpPr>
        <p:spPr>
          <a:xfrm>
            <a:off x="988920" y="4846265"/>
            <a:ext cx="658183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모든 메타태그 타입이 사용자의 니즈를 동일하게 대변하기 어렵습니다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따라서 메타태그가 자주 바뀌는가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변동 빈도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), 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유저의 경향을 반영하기 쉬운가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(</a:t>
            </a:r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선호 </a:t>
            </a:r>
            <a:r>
              <a:rPr lang="ko-KR" altLang="en-US" sz="1600" dirty="0" err="1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직관성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)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로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기준을 두어 각 메타태그마다 가중치 점수를 다르게 주었습니다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변동 빈도가 낮을 수록 기준이 견고하므로 점수를 높게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선호 직관성이 높을 수록 유저 선호도의 반영이 쉬우므로 점수를 높게 책정합니다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58C3C25-A703-72DB-8598-DC53C4014069}"/>
              </a:ext>
            </a:extLst>
          </p:cNvPr>
          <p:cNvSpPr/>
          <p:nvPr/>
        </p:nvSpPr>
        <p:spPr>
          <a:xfrm>
            <a:off x="813932" y="2165684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카테고리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E54ED56-604D-EDD0-C435-DFD1BBFC1AF7}"/>
              </a:ext>
            </a:extLst>
          </p:cNvPr>
          <p:cNvSpPr/>
          <p:nvPr/>
        </p:nvSpPr>
        <p:spPr>
          <a:xfrm>
            <a:off x="2051041" y="2907898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목적</a:t>
            </a:r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42F1CC4-FA59-4783-F688-348CBC158549}"/>
              </a:ext>
            </a:extLst>
          </p:cNvPr>
          <p:cNvSpPr/>
          <p:nvPr/>
        </p:nvSpPr>
        <p:spPr>
          <a:xfrm>
            <a:off x="3442839" y="2594453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기획의도</a:t>
            </a:r>
            <a:endParaRPr lang="ko-KR" altLang="en-US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B10899D-D1F2-7AE4-655B-DAE0B5871A2B}"/>
              </a:ext>
            </a:extLst>
          </p:cNvPr>
          <p:cNvSpPr/>
          <p:nvPr/>
        </p:nvSpPr>
        <p:spPr>
          <a:xfrm>
            <a:off x="4845039" y="2386720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직종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B418F8C-6FD4-E92C-E5CC-1943854713B7}"/>
              </a:ext>
            </a:extLst>
          </p:cNvPr>
          <p:cNvSpPr/>
          <p:nvPr/>
        </p:nvSpPr>
        <p:spPr>
          <a:xfrm>
            <a:off x="6182584" y="2847729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나이</a:t>
            </a:r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9B08B8D-3FA6-2EEC-B55E-AD1A04BE15E4}"/>
              </a:ext>
            </a:extLst>
          </p:cNvPr>
          <p:cNvSpPr/>
          <p:nvPr/>
        </p:nvSpPr>
        <p:spPr>
          <a:xfrm>
            <a:off x="7566309" y="2547586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인기도</a:t>
            </a:r>
            <a:endParaRPr lang="ko-KR" altLang="en-US" dirty="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AB738F0-2A50-3384-5500-3F62F9B7A02D}"/>
              </a:ext>
            </a:extLst>
          </p:cNvPr>
          <p:cNvSpPr/>
          <p:nvPr/>
        </p:nvSpPr>
        <p:spPr>
          <a:xfrm>
            <a:off x="8922326" y="2935644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latin typeface="프리젠테이션 5 Medium" pitchFamily="50" charset="-127"/>
                <a:ea typeface="프리젠테이션 5 Medium" pitchFamily="50" charset="-127"/>
              </a:rPr>
              <a:t>시기별</a:t>
            </a:r>
            <a:endParaRPr lang="ko-KR" altLang="en-US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33939378-A3EF-45C4-B2D7-541D73D5444C}"/>
              </a:ext>
            </a:extLst>
          </p:cNvPr>
          <p:cNvSpPr/>
          <p:nvPr/>
        </p:nvSpPr>
        <p:spPr>
          <a:xfrm>
            <a:off x="10278341" y="2479915"/>
            <a:ext cx="1364090" cy="1364090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atin typeface="프리젠테이션 5 Medium" pitchFamily="50" charset="-127"/>
                <a:ea typeface="프리젠테이션 5 Medium" pitchFamily="50" charset="-127"/>
              </a:rPr>
              <a:t>등록시기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05036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7F312-3F3B-65A6-F822-FCEFE1A4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862441-31C0-3CFC-3830-97DA6B9518AB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7DF8EBE-716F-3077-5CE8-1491539C5A7B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B393FC-ECD6-465E-A7CE-B0E02ADD27DF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타입별 가중치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F108F3-3F7C-D19E-3273-EE26586D8514}"/>
              </a:ext>
            </a:extLst>
          </p:cNvPr>
          <p:cNvSpPr txBox="1"/>
          <p:nvPr/>
        </p:nvSpPr>
        <p:spPr>
          <a:xfrm>
            <a:off x="7429196" y="271188"/>
            <a:ext cx="960964" cy="37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변동 빈도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1CF6381-C0BD-36EC-4297-720684D2BF83}"/>
              </a:ext>
            </a:extLst>
          </p:cNvPr>
          <p:cNvSpPr/>
          <p:nvPr/>
        </p:nvSpPr>
        <p:spPr>
          <a:xfrm>
            <a:off x="9327259" y="5780944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카테고리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087E6C3-C724-E7F5-D935-1778D904DB11}"/>
              </a:ext>
            </a:extLst>
          </p:cNvPr>
          <p:cNvSpPr/>
          <p:nvPr/>
        </p:nvSpPr>
        <p:spPr>
          <a:xfrm>
            <a:off x="7691912" y="4000504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목적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81658FC-5D5B-0A36-3918-3C885F0FF849}"/>
              </a:ext>
            </a:extLst>
          </p:cNvPr>
          <p:cNvSpPr/>
          <p:nvPr/>
        </p:nvSpPr>
        <p:spPr>
          <a:xfrm>
            <a:off x="9174569" y="2412810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기획의도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1421E58-CF0B-CF28-98EB-1B4C45863664}"/>
              </a:ext>
            </a:extLst>
          </p:cNvPr>
          <p:cNvSpPr/>
          <p:nvPr/>
        </p:nvSpPr>
        <p:spPr>
          <a:xfrm>
            <a:off x="5988469" y="5392445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직종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3326E63-BE74-026B-ACB2-1AB5D635C9BC}"/>
              </a:ext>
            </a:extLst>
          </p:cNvPr>
          <p:cNvSpPr/>
          <p:nvPr/>
        </p:nvSpPr>
        <p:spPr>
          <a:xfrm>
            <a:off x="4606961" y="5053079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나이</a:t>
            </a:r>
            <a:endParaRPr lang="ko-KR" altLang="en-US" dirty="0">
              <a:solidFill>
                <a:srgbClr val="323944"/>
              </a:solidFill>
              <a:latin typeface="프리젠테이션 5 Medium" pitchFamily="50" charset="-127"/>
              <a:ea typeface="프리젠테이션 5 Medium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7A55B1AC-271E-4CDC-EC5A-4A066F7BC9F8}"/>
              </a:ext>
            </a:extLst>
          </p:cNvPr>
          <p:cNvSpPr/>
          <p:nvPr/>
        </p:nvSpPr>
        <p:spPr>
          <a:xfrm>
            <a:off x="4529266" y="1127213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인기도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0C1807A-357F-E0C2-115C-BEAB9121EAC6}"/>
              </a:ext>
            </a:extLst>
          </p:cNvPr>
          <p:cNvSpPr/>
          <p:nvPr/>
        </p:nvSpPr>
        <p:spPr>
          <a:xfrm>
            <a:off x="4281196" y="267824"/>
            <a:ext cx="1299189" cy="792915"/>
          </a:xfrm>
          <a:prstGeom prst="roundRect">
            <a:avLst>
              <a:gd name="adj" fmla="val 3885"/>
            </a:avLst>
          </a:prstGeom>
          <a:solidFill>
            <a:schemeClr val="bg1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323944"/>
                </a:solidFill>
                <a:latin typeface="프리젠테이션 5 Medium" pitchFamily="50" charset="-127"/>
                <a:ea typeface="프리젠테이션 5 Medium" pitchFamily="50" charset="-127"/>
              </a:rPr>
              <a:t>등록시기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335DF0-3946-8D04-8C11-8478BEA7FFAE}"/>
              </a:ext>
            </a:extLst>
          </p:cNvPr>
          <p:cNvSpPr txBox="1"/>
          <p:nvPr/>
        </p:nvSpPr>
        <p:spPr>
          <a:xfrm>
            <a:off x="10654656" y="3244334"/>
            <a:ext cx="12116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선호 </a:t>
            </a:r>
            <a:r>
              <a:rPr lang="ko-KR" altLang="en-US" dirty="0" err="1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직관성</a:t>
            </a:r>
            <a:endParaRPr lang="en-US" altLang="ko-KR" dirty="0">
              <a:solidFill>
                <a:srgbClr val="FE6648"/>
              </a:solidFill>
              <a:latin typeface="프리젠테이션 7 Bold" pitchFamily="50" charset="-127"/>
              <a:ea typeface="프리젠테이션 7 Bold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DAC0AC-652E-3E5D-A3B5-B02743E0FE81}"/>
              </a:ext>
            </a:extLst>
          </p:cNvPr>
          <p:cNvSpPr txBox="1"/>
          <p:nvPr/>
        </p:nvSpPr>
        <p:spPr>
          <a:xfrm>
            <a:off x="10249843" y="3587446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높음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D34771-6DD4-7A60-95A2-07018D2DB7A0}"/>
              </a:ext>
            </a:extLst>
          </p:cNvPr>
          <p:cNvSpPr txBox="1"/>
          <p:nvPr/>
        </p:nvSpPr>
        <p:spPr>
          <a:xfrm>
            <a:off x="4122884" y="3522865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낮음</a:t>
            </a:r>
            <a:endParaRPr lang="ko-KR" altLang="en-US" dirty="0"/>
          </a:p>
        </p:txBody>
      </p:sp>
      <p:sp>
        <p:nvSpPr>
          <p:cNvPr id="7" name="화살표: 왼쪽/오른쪽 6">
            <a:extLst>
              <a:ext uri="{FF2B5EF4-FFF2-40B4-BE49-F238E27FC236}">
                <a16:creationId xmlns:a16="http://schemas.microsoft.com/office/drawing/2014/main" id="{340C3854-9B3C-B418-B448-917270406AD1}"/>
              </a:ext>
            </a:extLst>
          </p:cNvPr>
          <p:cNvSpPr/>
          <p:nvPr/>
        </p:nvSpPr>
        <p:spPr>
          <a:xfrm rot="16200000">
            <a:off x="4100297" y="3418185"/>
            <a:ext cx="6554360" cy="103438"/>
          </a:xfrm>
          <a:prstGeom prst="leftRightArrow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E6648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33DE0-66A7-C68F-6AE8-04E2A12F78D9}"/>
              </a:ext>
            </a:extLst>
          </p:cNvPr>
          <p:cNvSpPr txBox="1"/>
          <p:nvPr/>
        </p:nvSpPr>
        <p:spPr>
          <a:xfrm>
            <a:off x="6835037" y="271975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높음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732EB7-D396-5C0E-1D44-E1713BC2EC2A}"/>
              </a:ext>
            </a:extLst>
          </p:cNvPr>
          <p:cNvSpPr txBox="1"/>
          <p:nvPr/>
        </p:nvSpPr>
        <p:spPr>
          <a:xfrm>
            <a:off x="6794647" y="6352063"/>
            <a:ext cx="571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낮음</a:t>
            </a:r>
            <a:endParaRPr lang="ko-KR" altLang="en-US" dirty="0"/>
          </a:p>
        </p:txBody>
      </p:sp>
      <p:sp>
        <p:nvSpPr>
          <p:cNvPr id="11" name="화살표: 왼쪽/오른쪽 10">
            <a:extLst>
              <a:ext uri="{FF2B5EF4-FFF2-40B4-BE49-F238E27FC236}">
                <a16:creationId xmlns:a16="http://schemas.microsoft.com/office/drawing/2014/main" id="{D812010C-872E-5C8E-3465-13E3FA1C969C}"/>
              </a:ext>
            </a:extLst>
          </p:cNvPr>
          <p:cNvSpPr/>
          <p:nvPr/>
        </p:nvSpPr>
        <p:spPr>
          <a:xfrm rot="10800000">
            <a:off x="4100297" y="3377282"/>
            <a:ext cx="6554360" cy="103438"/>
          </a:xfrm>
          <a:prstGeom prst="leftRightArrow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E6648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66C1A0-8171-D0CB-2EC8-D9FED534EA57}"/>
              </a:ext>
            </a:extLst>
          </p:cNvPr>
          <p:cNvSpPr txBox="1"/>
          <p:nvPr/>
        </p:nvSpPr>
        <p:spPr>
          <a:xfrm>
            <a:off x="325725" y="6136620"/>
            <a:ext cx="30095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*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시기별은 변동빈도 및 사용자의 선호와는 상관 없는 </a:t>
            </a:r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메타태그이므로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예외 처리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58322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142C0-FE29-F540-622F-CEF8F997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F61BC1-F272-C40C-9D69-E773B100A23F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5039AC9-EAE4-8823-6807-AD369AF950D1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6FFE35-0CDF-D151-7E70-A54C8248A1E9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타입별 가중치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192084C-2529-E203-53CE-26C1317896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291629"/>
              </p:ext>
            </p:extLst>
          </p:nvPr>
        </p:nvGraphicFramePr>
        <p:xfrm>
          <a:off x="988920" y="1294643"/>
          <a:ext cx="10001152" cy="505267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49822">
                  <a:extLst>
                    <a:ext uri="{9D8B030D-6E8A-4147-A177-3AD203B41FA5}">
                      <a16:colId xmlns:a16="http://schemas.microsoft.com/office/drawing/2014/main" val="4163700810"/>
                    </a:ext>
                  </a:extLst>
                </a:gridCol>
                <a:gridCol w="1594619">
                  <a:extLst>
                    <a:ext uri="{9D8B030D-6E8A-4147-A177-3AD203B41FA5}">
                      <a16:colId xmlns:a16="http://schemas.microsoft.com/office/drawing/2014/main" val="4047902680"/>
                    </a:ext>
                  </a:extLst>
                </a:gridCol>
                <a:gridCol w="5656711">
                  <a:extLst>
                    <a:ext uri="{9D8B030D-6E8A-4147-A177-3AD203B41FA5}">
                      <a16:colId xmlns:a16="http://schemas.microsoft.com/office/drawing/2014/main" val="98255793"/>
                    </a:ext>
                  </a:extLst>
                </a:gridCol>
              </a:tblGrid>
              <a:tr h="4145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카테고리 타입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프리젠테이션 7 Bold" pitchFamily="50" charset="-127"/>
                          <a:ea typeface="프리젠테이션 7 Bold" pitchFamily="50" charset="-127"/>
                        </a:rPr>
                        <a:t>점수</a:t>
                      </a:r>
                      <a:endParaRPr lang="ko-KR" altLang="en-US" sz="2000" dirty="0">
                        <a:latin typeface="프리젠테이션 7 Bold" pitchFamily="50" charset="-127"/>
                        <a:ea typeface="프리젠테이션 7 Bold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산정 이유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76381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카테고리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(CATEGORY)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없으며 선호 직관성이 가장 높음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사용자가 초기 설정 가능하단 점에서 사용자의 니즈를 확실히 반영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139615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기획의도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(MERCHANDISING)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0.7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높으나 직관적 선호도도 높음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사용자가 초기 설정이 가능하단 점에서 사용자의 니즈를 반영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625889"/>
                  </a:ext>
                </a:extLst>
              </a:tr>
              <a:tr h="37555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목적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(PURPOSE)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0.5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낮으며 직관적 선호도가  보통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840102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직종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(OCCUPATION)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0.4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낮으며 직관적 선호도 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다만 나이보다는 선호도 반영 가능성이 있음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31468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나이대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(AGE_PREFERENCE)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0.3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낮으며 직관적 선호도 도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사용자가 직접 선택할 수 없는 으나</a:t>
                      </a:r>
                      <a:r>
                        <a:rPr lang="en-US" altLang="ko-KR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나이대에 따른 사용자 니즈가 있을 수 있음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39634"/>
                  </a:ext>
                </a:extLst>
              </a:tr>
              <a:tr h="5186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인기도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(POPULARITY)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0.2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매우 높으며 직관적 선호도가 매우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다만 인기 있는 상품이라는 지점에서 사용자에게 추천 효용성이 있음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190477"/>
                  </a:ext>
                </a:extLst>
              </a:tr>
              <a:tr h="3755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등록 시기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(RELEASE_OR_UPDATE)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변동 빈도가 매우 높으며 사용자 선호의 반영이 불가능함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067424"/>
                  </a:ext>
                </a:extLst>
              </a:tr>
              <a:tr h="55476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(SEASONAL)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시기에 따라 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/1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 별로 추천이 가능하단 점에서 해당 시기가 되면 </a:t>
                      </a:r>
                      <a:r>
                        <a:rPr lang="en-US" altLang="ko-KR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점으로 취급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latinLnBrk="1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해당 시기 외에는 </a:t>
                      </a:r>
                      <a:r>
                        <a:rPr lang="en-US" altLang="ko-KR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점으로 취급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339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4813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67BD3-9EC4-6D33-2340-87C5C469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BB3211-A1DB-3CD5-E660-D6AE59608803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1B1B056-8B92-D2D4-57A4-3F9F9256406D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99766-6A84-625D-5FCD-48F1E804AF47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타입별 가중치 </a:t>
            </a:r>
            <a:r>
              <a:rPr lang="en-US" altLang="ko-KR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/ 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감소치</a:t>
            </a:r>
            <a:endParaRPr lang="ko-KR" altLang="en-US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EF27CDE-1936-215B-77BC-5006A182D0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950232"/>
              </p:ext>
            </p:extLst>
          </p:nvPr>
        </p:nvGraphicFramePr>
        <p:xfrm>
          <a:off x="988920" y="1957838"/>
          <a:ext cx="10001152" cy="40654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49822">
                  <a:extLst>
                    <a:ext uri="{9D8B030D-6E8A-4147-A177-3AD203B41FA5}">
                      <a16:colId xmlns:a16="http://schemas.microsoft.com/office/drawing/2014/main" val="4163700810"/>
                    </a:ext>
                  </a:extLst>
                </a:gridCol>
                <a:gridCol w="1594619">
                  <a:extLst>
                    <a:ext uri="{9D8B030D-6E8A-4147-A177-3AD203B41FA5}">
                      <a16:colId xmlns:a16="http://schemas.microsoft.com/office/drawing/2014/main" val="4047902680"/>
                    </a:ext>
                  </a:extLst>
                </a:gridCol>
                <a:gridCol w="5656711">
                  <a:extLst>
                    <a:ext uri="{9D8B030D-6E8A-4147-A177-3AD203B41FA5}">
                      <a16:colId xmlns:a16="http://schemas.microsoft.com/office/drawing/2014/main" val="98255793"/>
                    </a:ext>
                  </a:extLst>
                </a:gridCol>
              </a:tblGrid>
              <a:tr h="31902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카테고리 타입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>
                          <a:latin typeface="프리젠테이션 7 Bold" pitchFamily="50" charset="-127"/>
                          <a:ea typeface="프리젠테이션 7 Bold" pitchFamily="50" charset="-127"/>
                        </a:rPr>
                        <a:t>점수</a:t>
                      </a:r>
                      <a:endParaRPr lang="ko-KR" altLang="en-US" sz="2000" dirty="0">
                        <a:latin typeface="프리젠테이션 7 Bold" pitchFamily="50" charset="-127"/>
                        <a:ea typeface="프리젠테이션 7 Bold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산정 이유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76381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목적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(PURPOSE)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0.9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사용자의 의향이 강하게 반영됨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태그 변경 시 추천 결과에 즉각적이고 큰 영향을 미침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139615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기획의도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(MERCHANDISING)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0.4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판매자의 </a:t>
                      </a:r>
                      <a:r>
                        <a:rPr lang="ko-KR" altLang="en-US" sz="1600" dirty="0" err="1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기획적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 의도가 반영되며 사용자의 성향과 합치함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625889"/>
                  </a:ext>
                </a:extLst>
              </a:tr>
              <a:tr h="2732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카테고리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(CATEGORY)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0.3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사용자의 의향이 강하게 반영되나</a:t>
                      </a:r>
                      <a:r>
                        <a:rPr lang="en-US" altLang="ko-KR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가장 넓은 분류 범위를 가지고 있음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상품 보유량이 많아 과도한 감소를 방지하기 위해 가중치 조절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840102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직종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(OCCUPATION)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직접적인 상품 선호도와의 연관성이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31468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나이대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(AGE_PREFERENCE)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0.1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직접적인 상품 선호도와의 연관성이 낮음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39634"/>
                  </a:ext>
                </a:extLst>
              </a:tr>
              <a:tr h="3373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인기도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(POPULARITY)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사용자의 상품 선호도와의 연관성이 없음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190477"/>
                  </a:ext>
                </a:extLst>
              </a:tr>
              <a:tr h="45642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등록 시기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(RELEASE_OR_UPDATE)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사용자의 상품 선호도와의 연관성이 없음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8067424"/>
                  </a:ext>
                </a:extLst>
              </a:tr>
              <a:tr h="36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(SEASONAL)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0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점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414B59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시기에 따라서 다르게 나타나는 특수한 태그이므로 처리하지 않음</a:t>
                      </a:r>
                      <a:endParaRPr lang="en-US" altLang="ko-KR" sz="1600" dirty="0">
                        <a:solidFill>
                          <a:srgbClr val="414B59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33900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48AAF5-CB17-267E-3AD6-5D386F092964}"/>
              </a:ext>
            </a:extLst>
          </p:cNvPr>
          <p:cNvSpPr txBox="1"/>
          <p:nvPr/>
        </p:nvSpPr>
        <p:spPr>
          <a:xfrm>
            <a:off x="988920" y="1095671"/>
            <a:ext cx="70787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당분간 보지 않기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처리에 따른 메타태그 감소 계수치는 다음과 같습니다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많은 상품을 보유하는 </a:t>
            </a:r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메타태그일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수록 낮게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, 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사용자의 선호도를 크게 반영할수록 높게 산정하였습니다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6143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1E7D0-0442-0633-569D-6961844A0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206516-31D6-2BC3-AACA-E80E2BC19941}"/>
              </a:ext>
            </a:extLst>
          </p:cNvPr>
          <p:cNvSpPr txBox="1"/>
          <p:nvPr/>
        </p:nvSpPr>
        <p:spPr>
          <a:xfrm>
            <a:off x="988920" y="694619"/>
            <a:ext cx="74722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[2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조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] </a:t>
            </a:r>
            <a:r>
              <a:rPr lang="ko-KR" altLang="en-US" sz="1100" dirty="0" err="1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통모짜개발자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en-US" altLang="ko-KR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/</a:t>
            </a:r>
            <a:r>
              <a:rPr lang="ko-KR" altLang="en-US" sz="1100" dirty="0">
                <a:solidFill>
                  <a:srgbClr val="323944"/>
                </a:solidFill>
                <a:latin typeface="프리젠테이션 4 Regular" pitchFamily="50" charset="-127"/>
                <a:ea typeface="프리젠테이션 4 Regular" pitchFamily="50" charset="-127"/>
              </a:rPr>
              <a:t> 행동로그 추천 시스템 기반 복지 쇼핑몰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ED14338-A5BF-E0A5-5125-C720A437D506}"/>
              </a:ext>
            </a:extLst>
          </p:cNvPr>
          <p:cNvSpPr/>
          <p:nvPr/>
        </p:nvSpPr>
        <p:spPr>
          <a:xfrm>
            <a:off x="325725" y="304800"/>
            <a:ext cx="663195" cy="663195"/>
          </a:xfrm>
          <a:prstGeom prst="ellipse">
            <a:avLst/>
          </a:prstGeom>
          <a:solidFill>
            <a:srgbClr val="FE6648"/>
          </a:solidFill>
          <a:ln>
            <a:solidFill>
              <a:srgbClr val="FE66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페이퍼로지 7 Bold" pitchFamily="50" charset="-127"/>
                <a:ea typeface="페이퍼로지 7 Bold" pitchFamily="50" charset="-127"/>
              </a:rPr>
              <a:t>04</a:t>
            </a:r>
            <a:endParaRPr lang="ko-KR" altLang="en-US" sz="1600" dirty="0"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AF768-6464-D400-D7D2-2248EDDD280D}"/>
              </a:ext>
            </a:extLst>
          </p:cNvPr>
          <p:cNvSpPr txBox="1"/>
          <p:nvPr/>
        </p:nvSpPr>
        <p:spPr>
          <a:xfrm>
            <a:off x="988920" y="3212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메타태그 </a:t>
            </a:r>
            <a:r>
              <a:rPr lang="ko-KR" altLang="en-US" sz="1800" dirty="0" err="1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어뷰징</a:t>
            </a:r>
            <a:r>
              <a:rPr lang="ko-KR" altLang="en-US" sz="1800" dirty="0">
                <a:solidFill>
                  <a:srgbClr val="323944"/>
                </a:solidFill>
                <a:latin typeface="페이퍼로지 7 Bold" pitchFamily="50" charset="-127"/>
                <a:ea typeface="페이퍼로지 7 Bold" pitchFamily="50" charset="-127"/>
              </a:rPr>
              <a:t> 방지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E1867D1-EA8E-3662-6539-0B55FB9FE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97745"/>
              </p:ext>
            </p:extLst>
          </p:nvPr>
        </p:nvGraphicFramePr>
        <p:xfrm>
          <a:off x="1132198" y="2340892"/>
          <a:ext cx="6160428" cy="302168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320932">
                  <a:extLst>
                    <a:ext uri="{9D8B030D-6E8A-4147-A177-3AD203B41FA5}">
                      <a16:colId xmlns:a16="http://schemas.microsoft.com/office/drawing/2014/main" val="4163700810"/>
                    </a:ext>
                  </a:extLst>
                </a:gridCol>
                <a:gridCol w="2839496">
                  <a:extLst>
                    <a:ext uri="{9D8B030D-6E8A-4147-A177-3AD203B41FA5}">
                      <a16:colId xmlns:a16="http://schemas.microsoft.com/office/drawing/2014/main" val="4047902680"/>
                    </a:ext>
                  </a:extLst>
                </a:gridCol>
              </a:tblGrid>
              <a:tr h="4591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카테고리 타입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latin typeface="프리젠테이션 7 Bold" pitchFamily="50" charset="-127"/>
                          <a:ea typeface="프리젠테이션 7 Bold" pitchFamily="50" charset="-127"/>
                        </a:rPr>
                        <a:t>등록 상한선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6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576381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카테고리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(CATEGORY)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1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7139615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직종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(OCCUPATION)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2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4625889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나이대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(AGE_PREFERENCE)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2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840102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기획의도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(MERCHANDISING)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5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431468"/>
                  </a:ext>
                </a:extLst>
              </a:tr>
              <a:tr h="42087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목적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(PURPOSE)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3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439634"/>
                  </a:ext>
                </a:extLst>
              </a:tr>
              <a:tr h="4283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시기별</a:t>
                      </a:r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(SEASONAL)</a:t>
                      </a:r>
                      <a:endParaRPr lang="ko-KR" altLang="en-US" sz="1600" dirty="0">
                        <a:solidFill>
                          <a:srgbClr val="323944"/>
                        </a:solidFill>
                        <a:latin typeface="프리젠테이션 5 Medium" pitchFamily="50" charset="-127"/>
                        <a:ea typeface="프리젠테이션 5 Medium" pitchFamily="50" charset="-127"/>
                      </a:endParaRP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2</a:t>
                      </a:r>
                      <a:r>
                        <a:rPr lang="ko-KR" altLang="en-US" sz="1600" dirty="0">
                          <a:solidFill>
                            <a:srgbClr val="323944"/>
                          </a:solidFill>
                          <a:latin typeface="프리젠테이션 5 Medium" pitchFamily="50" charset="-127"/>
                          <a:ea typeface="프리젠테이션 5 Medium" pitchFamily="50" charset="-127"/>
                        </a:rPr>
                        <a:t>개</a:t>
                      </a:r>
                    </a:p>
                  </a:txBody>
                  <a:tcPr marL="119820" marR="119820" marT="59910" marB="59910">
                    <a:lnL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E66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19047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65CA10C-E4B8-5A31-3E70-149459264256}"/>
              </a:ext>
            </a:extLst>
          </p:cNvPr>
          <p:cNvSpPr txBox="1"/>
          <p:nvPr/>
        </p:nvSpPr>
        <p:spPr>
          <a:xfrm>
            <a:off x="988920" y="1063650"/>
            <a:ext cx="658183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메타태그를 합산하여 추천하는 로직 특성상 판매자가 자신의 판매 품목을 상위에 두기 위해</a:t>
            </a:r>
            <a:endParaRPr lang="en-US" altLang="ko-KR" sz="1600" dirty="0">
              <a:solidFill>
                <a:srgbClr val="414B59"/>
              </a:solidFill>
              <a:latin typeface="프리젠테이션 4 Regular" pitchFamily="50" charset="-127"/>
              <a:ea typeface="프리젠테이션 4 Regular" pitchFamily="50" charset="-127"/>
            </a:endParaRP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메타태그를 전부 넣어두는 </a:t>
            </a:r>
            <a:r>
              <a:rPr lang="ko-KR" altLang="en-US" sz="1600" dirty="0" err="1">
                <a:solidFill>
                  <a:srgbClr val="FE6648"/>
                </a:solidFill>
                <a:latin typeface="프리젠테이션 7 Bold" pitchFamily="50" charset="-127"/>
                <a:ea typeface="프리젠테이션 7 Bold" pitchFamily="50" charset="-127"/>
              </a:rPr>
              <a:t>어뷰징</a:t>
            </a:r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발생할 수 있습니다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  <a:p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이에 따라 다음과 같이 카테고리 타입마다 등록 상한선을 두어 </a:t>
            </a:r>
            <a:r>
              <a:rPr lang="ko-KR" altLang="en-US" sz="1600" dirty="0" err="1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어뷰징을</a:t>
            </a:r>
            <a:r>
              <a:rPr lang="ko-KR" altLang="en-US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 방지하였습니다</a:t>
            </a:r>
            <a:r>
              <a:rPr lang="en-US" altLang="ko-KR" sz="1600" dirty="0">
                <a:solidFill>
                  <a:srgbClr val="414B59"/>
                </a:solidFill>
                <a:latin typeface="프리젠테이션 4 Regular" pitchFamily="50" charset="-127"/>
                <a:ea typeface="프리젠테이션 4 Regular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8924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B58F3D-9F3D-3B0B-DAD1-C26F8A1EA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B222E1-28AB-A7C8-4FDE-09428E25A557}"/>
              </a:ext>
            </a:extLst>
          </p:cNvPr>
          <p:cNvSpPr txBox="1"/>
          <p:nvPr/>
        </p:nvSpPr>
        <p:spPr>
          <a:xfrm>
            <a:off x="1935018" y="3044279"/>
            <a:ext cx="8321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solidFill>
                  <a:schemeClr val="bg1"/>
                </a:solidFill>
                <a:latin typeface="페이퍼로지 7 Bold" pitchFamily="50" charset="-127"/>
                <a:ea typeface="페이퍼로지 7 Bold" pitchFamily="50" charset="-127"/>
              </a:rPr>
              <a:t>감사합니다</a:t>
            </a:r>
            <a:endParaRPr lang="en-US" altLang="ko-KR" sz="4400" b="1" dirty="0">
              <a:solidFill>
                <a:schemeClr val="bg1"/>
              </a:solidFill>
              <a:latin typeface="페이퍼로지 7 Bold" pitchFamily="50" charset="-127"/>
              <a:ea typeface="페이퍼로지 7 Bold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FE5CF2-4B33-B3F6-B4AA-FAE1F644CBA2}"/>
              </a:ext>
            </a:extLst>
          </p:cNvPr>
          <p:cNvSpPr txBox="1"/>
          <p:nvPr/>
        </p:nvSpPr>
        <p:spPr>
          <a:xfrm>
            <a:off x="3539837" y="5514110"/>
            <a:ext cx="5292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latin typeface="프리젠테이션 5 Medium" pitchFamily="50" charset="-127"/>
                <a:ea typeface="프리젠테이션 5 Medium" pitchFamily="50" charset="-127"/>
              </a:rPr>
              <a:t>조</a:t>
            </a:r>
            <a:endParaRPr lang="en-US" altLang="ko-KR" sz="2000" b="1" dirty="0">
              <a:solidFill>
                <a:schemeClr val="bg1"/>
              </a:solidFill>
              <a:latin typeface="프리젠테이션 5 Medium" pitchFamily="50" charset="-127"/>
              <a:ea typeface="프리젠테이션 5 Medium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이지수 </a:t>
            </a:r>
            <a:r>
              <a:rPr lang="ko-KR" altLang="en-US" sz="1600" dirty="0" err="1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전이레</a:t>
            </a:r>
            <a:r>
              <a:rPr lang="ko-KR" altLang="en-US" sz="1600" dirty="0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 </a:t>
            </a:r>
            <a:r>
              <a:rPr lang="ko-KR" altLang="en-US" sz="1600" dirty="0" err="1">
                <a:solidFill>
                  <a:schemeClr val="bg1"/>
                </a:solidFill>
                <a:latin typeface="프리젠테이션 4 Regular" pitchFamily="50" charset="-127"/>
                <a:ea typeface="프리젠테이션 4 Regular" pitchFamily="50" charset="-127"/>
              </a:rPr>
              <a:t>정인혁</a:t>
            </a:r>
            <a:endParaRPr lang="en-US" altLang="ko-KR" sz="1600" dirty="0">
              <a:solidFill>
                <a:schemeClr val="bg1"/>
              </a:solidFill>
              <a:latin typeface="프리젠테이션 4 Regular" pitchFamily="50" charset="-127"/>
              <a:ea typeface="프리젠테이션 4 Regular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2169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648</TotalTime>
  <Words>1967</Words>
  <Application>Microsoft Office PowerPoint</Application>
  <PresentationFormat>와이드스크린</PresentationFormat>
  <Paragraphs>320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맑은 고딕</vt:lpstr>
      <vt:lpstr>페이퍼로지 7 Bold</vt:lpstr>
      <vt:lpstr>프리젠테이션 4 Regular</vt:lpstr>
      <vt:lpstr>프리젠테이션 5 Medium</vt:lpstr>
      <vt:lpstr>프리젠테이션 7 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망고 김</dc:creator>
  <cp:lastModifiedBy>망고 김</cp:lastModifiedBy>
  <cp:revision>128</cp:revision>
  <dcterms:created xsi:type="dcterms:W3CDTF">2026-05-27T01:18:47Z</dcterms:created>
  <dcterms:modified xsi:type="dcterms:W3CDTF">2026-06-12T08:55:01Z</dcterms:modified>
</cp:coreProperties>
</file>